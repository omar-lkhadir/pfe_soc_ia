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PFE IT6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6070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SOC Intelligent basé sur ELK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C9D3DE"/>
                </a:solidFill>
                <a:latin typeface="Calibri"/>
              </a:rPr>
              <a:t>Détection d'intrusion réseau (NIDS) — architecture généraliste multi-format,</a:t>
            </a:r>
          </a:p>
          <a:p>
            <a:pPr algn="l"/>
            <a:r>
              <a:rPr sz="1700" b="0" i="0">
                <a:solidFill>
                  <a:srgbClr val="C9D3DE"/>
                </a:solidFill>
                <a:latin typeface="Calibri"/>
              </a:rPr>
              <a:t>à deux paliers, validée sur données réelles et intégrée à une chaîne ELK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B7A8F"/>
                </a:solidFill>
                <a:latin typeface="Calibri"/>
              </a:rPr>
              <a:t>Projet de Fin d'Études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Plan de la présentation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50000"/>
            <a:ext cx="500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01. Contexte &amp; problématique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02. Solution proposée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03. Architecture du SOC intelligent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04. Palier 1 — Détection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05. Palier 2 — Analyse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06. Données &amp;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750000"/>
            <a:ext cx="500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07.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Nettoyage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&amp;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adaptateur</a:t>
            </a:r>
            <a:endParaRPr sz="1700" dirty="0">
              <a:solidFill>
                <a:srgbClr val="333D4D"/>
              </a:solidFill>
              <a:latin typeface="Calibri"/>
            </a:endParaRPr>
          </a:p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08.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Entraînement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&amp;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résultats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IA</a:t>
            </a:r>
          </a:p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09.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Intégration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du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système</a:t>
            </a:r>
            <a:endParaRPr sz="1700" dirty="0">
              <a:solidFill>
                <a:srgbClr val="333D4D"/>
              </a:solidFill>
              <a:latin typeface="Calibri"/>
            </a:endParaRPr>
          </a:p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10.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Scénarios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de test</a:t>
            </a:r>
          </a:p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11.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Visualisation</a:t>
            </a:r>
            <a:r>
              <a:rPr sz="1700" dirty="0">
                <a:solidFill>
                  <a:srgbClr val="333D4D"/>
                </a:solidFill>
                <a:latin typeface="Calibri"/>
              </a:rPr>
              <a:t> &amp; supervision</a:t>
            </a:r>
          </a:p>
          <a:p>
            <a:pPr>
              <a:spcAft>
                <a:spcPts val="2000"/>
              </a:spcAft>
            </a:pPr>
            <a:r>
              <a:rPr sz="1700" dirty="0">
                <a:solidFill>
                  <a:srgbClr val="333D4D"/>
                </a:solidFill>
                <a:latin typeface="Calibri"/>
              </a:rPr>
              <a:t>12. </a:t>
            </a:r>
            <a:r>
              <a:rPr sz="1700" dirty="0" err="1">
                <a:solidFill>
                  <a:srgbClr val="333D4D"/>
                </a:solidFill>
                <a:latin typeface="Calibri"/>
              </a:rPr>
              <a:t>Résultats</a:t>
            </a:r>
            <a:r>
              <a:rPr sz="1700" dirty="0">
                <a:solidFill>
                  <a:srgbClr val="333D4D"/>
                </a:solidFill>
                <a:latin typeface="Calibri"/>
              </a:rPr>
              <a:t>, conclusion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Pourquoi ce projet, et ce qu'il devait résoudre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Un SOC submergé par le volume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Un SOC (Security Operations Center) doit détecter en continu des menaces dans un volume de trafic réseau considérable, trop important pour une analyse manuelle exhaustive.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Objectif du PFE : intégrer un pipeline de Machine Learning à une chaîne ELK (Elasticsearch, Logstash, Kibana) pour automatiser la détection d'intrusion réseau (NIDS).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Deux besoins complémentaires : détecter qu'un flux est anormal (palier 1, binaire), puis qualifier le type d'attaque pour prioriser la réponse (palier 2, 5 catégories).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Exigence de production précisée en cours de projet : le modèle ne doit pas être figé sur un seul format de capture réseau — il doit rester utilisable si la source de log change (NetFlow, CICFlowMeter, Zeek, Suricata, ...).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Ce que ce PFE devait livrer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 b="1">
                <a:solidFill>
                  <a:srgbClr val="333D4D"/>
                </a:solidFill>
                <a:latin typeface="Calibri"/>
              </a:rPr>
              <a:t>•  Concevoir un pipeline ML à deux paliers </a:t>
            </a:r>
            <a:r>
              <a:rPr sz="1700" b="0">
                <a:solidFill>
                  <a:srgbClr val="333D4D"/>
                </a:solidFill>
                <a:latin typeface="Calibri"/>
              </a:rPr>
              <a:t>pour la détection réseau : normal/attaque, puis catégorisation fine.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33D4D"/>
                </a:solidFill>
                <a:latin typeface="Calibri"/>
              </a:rPr>
              <a:t>•  Le rendre généraliste multi-format </a:t>
            </a:r>
            <a:r>
              <a:rPr sz="1700" b="0">
                <a:solidFill>
                  <a:srgbClr val="333D4D"/>
                </a:solidFill>
                <a:latin typeface="Calibri"/>
              </a:rPr>
              <a:t>— pas seulement entraîné et valide sur un unique outil d'export de flux.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33D4D"/>
                </a:solidFill>
                <a:latin typeface="Calibri"/>
              </a:rPr>
              <a:t>•  Le valider honnêtement </a:t>
            </a:r>
            <a:r>
              <a:rPr sz="1700" b="0">
                <a:solidFill>
                  <a:srgbClr val="333D4D"/>
                </a:solidFill>
                <a:latin typeface="Calibri"/>
              </a:rPr>
              <a:t>sur des données réelles jamais vues à l'entraînement, pas seulement sur un split interne du même fichier.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33D4D"/>
                </a:solidFill>
                <a:latin typeface="Calibri"/>
              </a:rPr>
              <a:t>•  L'intégrer dans une chaîne ELK réelle </a:t>
            </a:r>
            <a:r>
              <a:rPr sz="1700" b="0">
                <a:solidFill>
                  <a:srgbClr val="333D4D"/>
                </a:solidFill>
                <a:latin typeface="Calibri"/>
              </a:rPr>
              <a:t>(Filebeat → Logstash → service ML → Elasticsearch → Kibana), avec un scénario de test rejouable.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Solution proposée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Un socle commun, un pipeline à deux paliers, une intégration ELK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Vue d'ensemble en 4 piliers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333D4D"/>
                </a:solidFill>
                <a:latin typeface="Calibri"/>
              </a:rPr>
              <a:t>•  1. Schéma canonique à deux paliers — </a:t>
            </a:r>
            <a:r>
              <a:rPr sz="1600" b="0">
                <a:solidFill>
                  <a:srgbClr val="333D4D"/>
                </a:solidFill>
                <a:latin typeface="Calibri"/>
              </a:rPr>
              <a:t>un socle de features commun à tout format de flux (palier 1, 17 features garanties) + un socle étendu optionnel (palier 2, 5 features, NaN toléré). Les modèles ne voient jamais un format brut.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333D4D"/>
                </a:solidFill>
                <a:latin typeface="Calibri"/>
              </a:rPr>
              <a:t>•  2. Pattern adaptateur — </a:t>
            </a:r>
            <a:r>
              <a:rPr sz="1600" b="0">
                <a:solidFill>
                  <a:srgbClr val="333D4D"/>
                </a:solidFill>
                <a:latin typeface="Calibri"/>
              </a:rPr>
              <a:t>chaque outil (NetFlow, CICFlowMeter, Zeek, Suricata) a son propre traducteur vers le schéma canonique. Ajouter un format = écrire un adaptateur, jamais retoucher le modèle.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333D4D"/>
                </a:solidFill>
                <a:latin typeface="Calibri"/>
              </a:rPr>
              <a:t>•  3. Pipeline ML à deux paliers — </a:t>
            </a:r>
            <a:r>
              <a:rPr sz="1600" b="0">
                <a:solidFill>
                  <a:srgbClr val="333D4D"/>
                </a:solidFill>
                <a:latin typeface="Calibri"/>
              </a:rPr>
              <a:t>Palier 1 (HistGradientBoostingClassifier) détecte normal/attaque ; Palier 2 (même algorithme) catégorise en 5 classes MITRE-like, uniquement sur ce que le palier 1 a flagué.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333D4D"/>
                </a:solidFill>
                <a:latin typeface="Calibri"/>
              </a:rPr>
              <a:t>•  4. Intégration ELK de bout en bout — </a:t>
            </a:r>
            <a:r>
              <a:rPr sz="1600" b="0">
                <a:solidFill>
                  <a:srgbClr val="333D4D"/>
                </a:solidFill>
                <a:latin typeface="Calibri"/>
              </a:rPr>
              <a:t>un service FastAPI appelé depuis Logstash, un index Elasticsearch typé, pensé pour Kibana — testé sur 7 scénarios réels.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POURQUOI CETTE APPROCHE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Le compromis explicite qui a guidé les choix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Alternative écartée : entraîner un modèle par format et les faire cohabiter en production — plus simple à coder, mais chaque nouveau format redemande un entraînement complet et une maintenance multipliée.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Alternative retenue : UN schéma canonique + UN modèle partagé, pondéré par source à l'entraînement plutôt que dédoublé — un seul pipeline à maintenir, une seule paire de modèles à surveiller en production.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Coût assumé de ce choix : le socle commun doit rester générique (pas de feature ultra-spécifique à un seul outil) — un contrôle de dérive systématique a été mis en place pour le garantir (section 07).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Architecture du SOC intelligent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Où le NIDS s'insère dans la chaîne ELK, et comment les deux paliers s'articulent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ARCHITECTURE GLOBALE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De la capture réseau à l'alerte SOC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3600" y="1650000"/>
            <a:ext cx="7200000" cy="76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Sondes réseau → Filebeat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NetFlow · CICFlowMeter · Zeek · Suricata  (port 5044)</a:t>
            </a:r>
          </a:p>
        </p:txBody>
      </p:sp>
      <p:sp>
        <p:nvSpPr>
          <p:cNvPr id="9" name="Down Arrow 8"/>
          <p:cNvSpPr/>
          <p:nvPr/>
        </p:nvSpPr>
        <p:spPr>
          <a:xfrm>
            <a:off x="5693600" y="2410000"/>
            <a:ext cx="500000" cy="32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43600" y="2730000"/>
            <a:ext cx="7200000" cy="76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Logstash — pipeline « nids »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ruby (sérialisation)  →  http (POST /predict)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693600" y="3490000"/>
            <a:ext cx="500000" cy="32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343600" y="3810000"/>
            <a:ext cx="7200000" cy="7600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 ML FastAPI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libri"/>
              </a:rPr>
              <a:t>Palier 1 (normal/attaque)  →  Palier 2 (5 catégories, si attaque)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693600" y="4570000"/>
            <a:ext cx="500000" cy="32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343600" y="4890000"/>
            <a:ext cx="7200000" cy="76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Elasticsearch → Kibana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index nids-ml-*  →  Discover / dashboards, analyste SOC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ARCHITECTURE DU MODÈLE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Logique de décision — Palier 1 puis Palier 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3600" y="1600000"/>
            <a:ext cx="5000000" cy="62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Événement réseau (flux)</a:t>
            </a:r>
          </a:p>
        </p:txBody>
      </p:sp>
      <p:sp>
        <p:nvSpPr>
          <p:cNvPr id="9" name="Down Arrow 8"/>
          <p:cNvSpPr/>
          <p:nvPr/>
        </p:nvSpPr>
        <p:spPr>
          <a:xfrm>
            <a:off x="5743600" y="2220000"/>
            <a:ext cx="400000" cy="26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843600" y="2480000"/>
            <a:ext cx="8200000" cy="7000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Palier 1 — HistGradientBoosting : normal ou attaque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80000"/>
            <a:ext cx="46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27AE60"/>
                </a:solidFill>
                <a:latin typeface="Calibri"/>
              </a:rPr>
              <a:t>normal (~98% des flux)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240" y="3180000"/>
            <a:ext cx="46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E74C3C"/>
                </a:solidFill>
                <a:latin typeface="Calibri"/>
              </a:rPr>
              <a:t>attaque détectée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922960" y="3380000"/>
            <a:ext cx="400000" cy="26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564240" y="3380000"/>
            <a:ext cx="400000" cy="26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3640000"/>
            <a:ext cx="4600000" cy="7000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50" b="1">
                <a:solidFill>
                  <a:srgbClr val="27AE60"/>
                </a:solidFill>
                <a:latin typeface="Calibri"/>
              </a:rPr>
              <a:t>Fin — aucune alerte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4240" y="3640000"/>
            <a:ext cx="4600000" cy="700000"/>
          </a:xfrm>
          <a:prstGeom prst="roundRect">
            <a:avLst>
              <a:gd name="adj" fmla="val 10000"/>
            </a:avLst>
          </a:prstGeom>
          <a:solidFill>
            <a:srgbClr val="FD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50" b="1">
                <a:solidFill>
                  <a:srgbClr val="B9660A"/>
                </a:solidFill>
                <a:latin typeface="Calibri"/>
              </a:rPr>
              <a:t>Palier 2 — catégorisation (5 classes)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64240" y="4340000"/>
            <a:ext cx="400000" cy="26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543600" y="4600000"/>
            <a:ext cx="6800000" cy="7000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Alerte SOC — attack_category + confidence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5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9AA5B1"/>
                </a:solidFill>
                <a:latin typeface="Calibri"/>
              </a:rPr>
              <a:t>Principe : le palier 2 affine une décision déjà prise, il ne la refait jamais depuis zéro — économie de calcul, et cohérence garantie entre les deux paliers.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ARCHITECTURE DU MODÈLE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Caractéristiques des deux paliers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50000"/>
            <a:ext cx="48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</a:rPr>
              <a:t>Palier 1 — Détection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0000"/>
            <a:ext cx="4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Reçoit CHAQUE événement en premier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Question binaire : normal ou attaque ?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17 features (palier 1 du schéma canonique), jamais de NaN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1 seul modèle, partagé entre les 3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000" y="1650000"/>
            <a:ext cx="48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</a:rPr>
              <a:t>Palier 2 — 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0" y="2100000"/>
            <a:ext cx="4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N'est appelé QUE si le palier 1 dit « attaque 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Question fine : quelle catégorie d'attaque ?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22 features (palier 1 + palier 2), NaN toléré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1 seul modèle partagé, seuil de confiance (0,7) pour l'automatisation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0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9AA5B1"/>
                </a:solidFill>
                <a:latin typeface="Calibri"/>
              </a:rPr>
              <a:t>Le palier 2 affine une décision déjà prise, il ne la refait jamais depuis zéro — économie de calcul, cohérence garantie entre les deux paliers.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Palier 1 — Détection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Normal ou attaque : le premier filtre, appliqué à chaque événement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Rôle et algorithme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Rôle : classer CHAQUE flux réseau en normal ou attaque — c'est le tri initial dont dépend tout le reste (le palier 2 ne voit que ce qui passe ce filtre).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Algorithme : HistGradientBoostingClassifier (scikit-learn) — boosting de gradient basé sur des histogrammes, un seul modèle partagé entre les 3 sources (NetFlow, CICFlowMeter, Zeek), pondéré par source à l'entraînement.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5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</a:rPr>
              <a:t>Définition de l'algorithme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50000"/>
            <a:ext cx="1024128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Construit une SÉQUENCE d'arbres de décision peu profonds : chaque nouvel arbre corrige les erreurs (résidus) laissées par la combinaison des arbres précédents — apprentissage additif, pas un vote comme Random Forest.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« Histogram-based » : discrétise chaque feature en bins avant de chercher les meilleurs seuils de coupure → entraînement très rapide sur de gros volumes (867 980 lignes évaluées).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Hyperparamètres retenus : max_iter=250, max_depth=15, learning_rate=0,2, max_leaf_nodes=63, seuil de décision=0,68.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Pourquoi cet algorithme (et pas Isolation Forest)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8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9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9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Besoin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HistGradientBoosting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Isolation Forest (écarté)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Modèle unique multi-source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Pondération par source (class_weight) à l'entraînement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Sensible au volume relatif → modèle dédié par source obligatoire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Pas de normalisation à maintenir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Arbres — insensible à l'échelle des features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Nécessitait un StandardScaler par source à synchroniser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Contrôle du surapprentissage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l2_regularization, max_leaf_nodes, depth, learning_rate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Moins de leviers de réglage fin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4300000"/>
            <a:ext cx="1024128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Compromis assumé : </a:t>
            </a:r>
            <a:r>
              <a:rPr sz="1450" b="0">
                <a:solidFill>
                  <a:srgbClr val="333D4D"/>
                </a:solidFill>
                <a:latin typeface="Calibri"/>
              </a:rPr>
              <a:t>ce modèle supervisé perd la capacité « zero-day » de l'ancien Isolation Forest (flaguer un pattern jamais vu sans jamais l'avoir vu) — décision explicite, en échange d'un gain de performance mesuré très net (slide suivante).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1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Isolation Forest (ancien) vs HistGradientBoosting (actuel)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16</a:t>
            </a:r>
          </a:p>
        </p:txBody>
      </p:sp>
      <p:pic>
        <p:nvPicPr>
          <p:cNvPr id="8" name="Picture 7" descr="comparaison_if_vs_superv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291" y="1600000"/>
            <a:ext cx="7550618" cy="25000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4250000"/>
          <a:ext cx="10241278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89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75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F1 (ancien IF)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F1 (actuel)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F1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AUC (ancien IF)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AUC (actuel)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5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CICFlowMeter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60,4%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96,1%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+35,7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79,6%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5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NetFlow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73,8%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97,4%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+23,6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5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Zeek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99,7%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+0,3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92,6%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750000"/>
            <a:ext cx="1024128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D4D"/>
                </a:solidFill>
                <a:latin typeface="Calibri"/>
              </a:rPr>
              <a:t>•  Résultat poolé final (867 980 flux) : Acc=98,1% Prec=98,1% Rec=95,7% F1=96,9% AUC=99,6% FPR=0,8%.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Palier 2 — 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Catégoriser l'attaque détectée pour prioriser la réponse du SOC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Rôle et algorithme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Rôle : une fois le palier 1 déclenché, qualifier l'attaque parmi 5 catégories — brute_force, port_scanning, suspicious_activity, intrusion_reseau, acces_non_autorise — pour aider le SOC à prioriser sa réponse.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Même famille d'algorithme que le palier 1 : HistGradientBoostingClassifier, mais entraîné sur 22 features (palier 1 + palier 2, IAT et taille de paquet incluses quand disponibles).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333D4D"/>
                </a:solidFill>
                <a:latin typeface="Calibri"/>
              </a:rPr>
              <a:t>•  Pourquoi le même algorithme ici aussi : </a:t>
            </a:r>
            <a:r>
              <a:rPr sz="1550" b="0">
                <a:solidFill>
                  <a:srgbClr val="333D4D"/>
                </a:solidFill>
                <a:latin typeface="Calibri"/>
              </a:rPr>
              <a:t>le palier 2 doit tolérer nativement le NaN du palier 2 optionnel (ex. Zeek n'a pas les statistiques d'IAT) — RandomForestClassifier l'interdit et forcerait une imputation, donc une valeur fabriquée.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50000"/>
            <a:ext cx="1024128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Hyperparamètres retenus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0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33D4D"/>
                </a:solidFill>
                <a:latin typeface="Calibri"/>
              </a:rPr>
              <a:t>max_iter=250, max_depth=10, learning_rate=0,2, max_leaf_nodes=63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2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HistGradientBoostingClassifier, 22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9" cy="16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3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Bloc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Poolé (3 sources)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265 661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CICFlowMeter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161 727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NetFlow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73 620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99,5%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99,5%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99,5%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99,5%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Zeek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30 314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100,0%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3450000"/>
            <a:ext cx="1024128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F3A"/>
                </a:solidFill>
                <a:latin typeface="Calibri"/>
              </a:rPr>
              <a:t>Classification détaillée (poolé, 265 661 lignes) 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850000"/>
          <a:ext cx="10241278" cy="1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2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0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37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30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Catégorie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acces_non_autorise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10 550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brute_force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0,99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0,99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28 651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intrusion_reseau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152 920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port_scanning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61 646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suspicious_activity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0,99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11 894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9AA5B1"/>
                </a:solidFill>
                <a:latin typeface="Calibri"/>
              </a:rPr>
              <a:t>Seuil de confiance = 0,7 : 264 663 / 265 661 cas classifiés automatiquement (accuracy = 99,7%).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PALIER 2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Vérité terrain vs Prédiction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verite_vs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408" y="1650000"/>
            <a:ext cx="9490384" cy="47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Données &amp;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Les jeux de données réels utilisés, et comment ils ont été combinés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Sources d'entraînement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8" cy="3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2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5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5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Fichiers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Origine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NetFlow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BigFlow-NIDS-V2.csv (~3M lignes échantillonnées)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Dataset NetFlow réel, 66M lignes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Entraînement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CICFlowMeter 2017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8 fichiers CICIDS2017 (Mon-Fri)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CICIDS2017 (CIC/UNB)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Entraînement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Zeek / IoT-23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CTU-IoT-Malware-Capture-3-1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IoT-23 (Stratosphere/CTU), botnet Muhstik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Entraînement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CICFlowMeter 2018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4 fichiers CICIDS2018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CSE-CIC-IDS2018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Holdout de validation (validate_2018_holdout.py)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Suricata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aucune donnée réelle disponible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D4D"/>
                          </a:solidFill>
                          <a:latin typeface="Calibri"/>
                        </a:rPr>
                        <a:t>Adaptateur prêt, jamais entraîné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750000"/>
            <a:ext cx="1024128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33D4D"/>
                </a:solidFill>
                <a:latin typeface="Calibri"/>
              </a:rPr>
              <a:t>•  Entraînement final : NetFlow + CICFlowMeter/2017 + Zeek/IoT-23 combinés, split stratifié source × label (80/20).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33D4D"/>
                </a:solidFill>
                <a:latin typeface="Calibri"/>
              </a:rPr>
              <a:t>•  CICIDS2018 sert uniquement de test de généralisation externe (section 10) — jamais fusionné dans le train.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Nettoyage &amp; adaptateur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Le schéma canonique, le pattern adaptateur, et le contrôle de dérive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SCHÉMA CANONIQUE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Un socle de features à deux paliers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000"/>
            <a:ext cx="48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</a:rPr>
              <a:t>Palier 1 — cœur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00000"/>
            <a:ext cx="48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9AA5B1"/>
                </a:solidFill>
                <a:latin typeface="Calibri"/>
              </a:rPr>
              <a:t>17 features, garanties par tout format, jamais de 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00000"/>
            <a:ext cx="49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Ports (bucketisés), protocole (TCP/UDP/OTHER)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Octets et paquets in/out, durée du flux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6 flags TCP booléens (SYN/ACK/FIN/RST/PSH/URG)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4 agrégats dérivés : ratio_bytes, total_bytes, total_pkts, duree_sec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Utilisé par les DEUX modèles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0" y="1600000"/>
            <a:ext cx="48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</a:rPr>
              <a:t>Palier 2 — étendu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0" y="2000000"/>
            <a:ext cx="48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9AA5B1"/>
                </a:solidFill>
                <a:latin typeface="Calibri"/>
              </a:rPr>
              <a:t>5 features, optionnelles, NaN toléré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0" y="2400000"/>
            <a:ext cx="49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LONGEST_FLOW_PKT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SRC_TO_DST_IAT_AVG / STDDEV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DST_TO_SRC_IAT_AVG / STDDEV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SHORTEST_FLOW_PKT retirée (voir contrôle de dérive)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Utilisé UNIQUEMENT par le palier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PATTERN ADAPTATEUR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Le modèle ne voit jamais un format brut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00000"/>
            <a:ext cx="2500000" cy="55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NetFlow-v9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00000"/>
            <a:ext cx="2500000" cy="55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CICFlowMeter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0000"/>
            <a:ext cx="2500000" cy="55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Zeek conn.log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00000"/>
            <a:ext cx="2500000" cy="55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Suricata EVE JSON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52960" y="1875000"/>
            <a:ext cx="380000" cy="20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3352960" y="2575000"/>
            <a:ext cx="380000" cy="20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3352960" y="3275000"/>
            <a:ext cx="380000" cy="20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3352960" y="3975000"/>
            <a:ext cx="380000" cy="20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2960" y="1700000"/>
            <a:ext cx="3000000" cy="26500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Schéma canonique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libri"/>
              </a:rPr>
              <a:t>17 features (palier 1)
+ 5 features (palier 2, NaN toléré)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92960" y="2895000"/>
            <a:ext cx="380000" cy="26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202960" y="2375000"/>
            <a:ext cx="3861280" cy="1300000"/>
          </a:xfrm>
          <a:prstGeom prst="roundRect">
            <a:avLst>
              <a:gd name="adj" fmla="val 10000"/>
            </a:avLst>
          </a:prstGeom>
          <a:solidFill>
            <a:srgbClr val="FD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B9660A"/>
                </a:solidFill>
                <a:latin typeface="Calibri"/>
              </a:rPr>
              <a:t>Palier 1 + Palier 2</a:t>
            </a:r>
          </a:p>
          <a:p>
            <a:pPr algn="ctr"/>
            <a:r>
              <a:rPr sz="1050" b="0">
                <a:solidFill>
                  <a:srgbClr val="B9660A"/>
                </a:solidFill>
                <a:latin typeface="Calibri"/>
              </a:rPr>
              <a:t>modèles partagés
(HistGradientBoosting)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5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9AA5B1"/>
                </a:solidFill>
                <a:latin typeface="Calibri"/>
              </a:rPr>
              <a:t>Ajouter un 5e format = écrire un nouvel adaptateur (~1 fichier), jamais retoucher le schéma ni le modèle.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PATTERN ADAPTATEUR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Définition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50000"/>
            <a:ext cx="515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Un adaptateur (commun/adapters/*.py) est un module qui traduit les données brutes d'un outil de capture réseau (NetFlow, CICFlowMeter, Zeek, Suricata) vers le schéma canonique commun.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C'est la SEULE pièce du pipeline qui connaît le format d'origine — le modèle, lui, ne voit jamais un format brut.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Tous héritent du même contrat, BaseFlowAdapter, et n'implémentent qu'une seule méthode : to_canonical(df_raw).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0000" y="1650000"/>
            <a:ext cx="4700000" cy="3200000"/>
          </a:xfrm>
          <a:prstGeom prst="rect">
            <a:avLst/>
          </a:prstGeom>
          <a:solidFill>
            <a:srgbClr val="FAFBFC"/>
          </a:solidFill>
          <a:ln w="15875">
            <a:solidFill>
              <a:srgbClr val="9AA5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9AA5B1"/>
                </a:solidFill>
              </a:rPr>
              <a:t>📷</a:t>
            </a:r>
          </a:p>
          <a:p>
            <a:pPr algn="ctr"/>
            <a:r>
              <a:rPr sz="1100" b="1">
                <a:solidFill>
                  <a:srgbClr val="9AA5B1"/>
                </a:solidFill>
                <a:latin typeface="Calibri"/>
              </a:rPr>
              <a:t>Capture d'écran à insérer ici :</a:t>
            </a:r>
          </a:p>
          <a:p>
            <a:pPr algn="ctr"/>
            <a:r>
              <a:rPr sz="1050" i="1">
                <a:solidFill>
                  <a:srgbClr val="9AA5B1"/>
                </a:solidFill>
                <a:latin typeface="Calibri"/>
              </a:rPr>
              <a:t>code de commun/adapters/base.py
(classe BaseFlowAdapter)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0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9AA5B1"/>
                </a:solidFill>
                <a:latin typeface="Calibri"/>
              </a:rPr>
              <a:t>Résultat recherché : ajouter un 5e format = écrire un nouvel adaptateur, jamais retoucher le schéma ni les modèles déjà entraînés.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PATTERN ADAPTATEUR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Comment il marche — 6 étapes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50000"/>
            <a:ext cx="51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1. Identifier les colonnes du palier 1</a:t>
            </a:r>
            <a:r>
              <a:rPr sz="1300" b="0">
                <a:solidFill>
                  <a:srgbClr val="333D4D"/>
                </a:solidFill>
                <a:latin typeface="Calibri"/>
              </a:rPr>
              <a:t>port destination, protocole, octets/paquets in/out, durée, et un moyen de dériver les 6 flags TCP.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2. Vérifier unités et conventions</a:t>
            </a:r>
            <a:r>
              <a:rPr sz="1300" b="0">
                <a:solidFill>
                  <a:srgbClr val="333D4D"/>
                </a:solidFill>
                <a:latin typeface="Calibri"/>
              </a:rPr>
              <a:t>durée/IAT en µs, ms ou s selon l'outil ; octets IP totaux vs payload seul — pièges déjà rencontrés.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3. Construire les 17 features du palier 1</a:t>
            </a:r>
            <a:r>
              <a:rPr sz="1300" b="0">
                <a:solidFill>
                  <a:srgbClr val="333D4D"/>
                </a:solidFill>
                <a:latin typeface="Calibri"/>
              </a:rPr>
              <a:t>to_canonical() assemble les colonnes brutes + flags, puis add_derived_features() calcule les 4 agrégats.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4. Remplir le palier 2 si disponible, sinon NaN</a:t>
            </a:r>
            <a:r>
              <a:rPr sz="1300" b="0">
                <a:solidFill>
                  <a:srgbClr val="333D4D"/>
                </a:solidFill>
                <a:latin typeface="Calibri"/>
              </a:rPr>
              <a:t>IAT et taille de paquet si l'outil les fournit (NetFlow, CICFlowMeter) — jamais de constante fabriquée.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5. Ajouter les colonnes méta et finaliser les types</a:t>
            </a:r>
            <a:r>
              <a:rPr sz="1300" b="0">
                <a:solidFill>
                  <a:srgbClr val="333D4D"/>
                </a:solidFill>
                <a:latin typeface="Calibri"/>
              </a:rPr>
              <a:t>Label_binaire, Attack_brut, source, puis finalize_dtypes() force les types et l'ordre des colonnes.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333D4D"/>
                </a:solidFill>
                <a:latin typeface="Calibri"/>
              </a:rPr>
              <a:t>•  6. Valider le contrat avant que le modèle ne voie la donnée</a:t>
            </a:r>
            <a:r>
              <a:rPr sz="1300" b="0">
                <a:solidFill>
                  <a:srgbClr val="333D4D"/>
                </a:solidFill>
                <a:latin typeface="Calibri"/>
              </a:rPr>
              <a:t>validate() vérifie palier 1 complet sans NaN, palier 2 présent, colonnes méta présentes — sinon erreur explicite.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0000" y="1650000"/>
            <a:ext cx="4700000" cy="1550000"/>
          </a:xfrm>
          <a:prstGeom prst="rect">
            <a:avLst/>
          </a:prstGeom>
          <a:solidFill>
            <a:srgbClr val="FAFBFC"/>
          </a:solidFill>
          <a:ln w="15875">
            <a:solidFill>
              <a:srgbClr val="9AA5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9AA5B1"/>
                </a:solidFill>
              </a:rPr>
              <a:t>📷</a:t>
            </a:r>
          </a:p>
          <a:p>
            <a:pPr algn="ctr"/>
            <a:r>
              <a:rPr sz="1100" b="1">
                <a:solidFill>
                  <a:srgbClr val="9AA5B1"/>
                </a:solidFill>
                <a:latin typeface="Calibri"/>
              </a:rPr>
              <a:t>Capture d'écran à insérer ici :</a:t>
            </a:r>
          </a:p>
          <a:p>
            <a:pPr algn="ctr"/>
            <a:r>
              <a:rPr sz="1050" i="1">
                <a:solidFill>
                  <a:srgbClr val="9AA5B1"/>
                </a:solidFill>
                <a:latin typeface="Calibri"/>
              </a:rPr>
              <a:t>extrait de to_canonical()
(ex. netflow_adapter.py)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0000" y="3350000"/>
            <a:ext cx="4700000" cy="1550000"/>
          </a:xfrm>
          <a:prstGeom prst="rect">
            <a:avLst/>
          </a:prstGeom>
          <a:solidFill>
            <a:srgbClr val="FAFBFC"/>
          </a:solidFill>
          <a:ln w="15875">
            <a:solidFill>
              <a:srgbClr val="9AA5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9AA5B1"/>
                </a:solidFill>
              </a:rPr>
              <a:t>📷</a:t>
            </a:r>
          </a:p>
          <a:p>
            <a:pPr algn="ctr"/>
            <a:r>
              <a:rPr sz="1100" b="1">
                <a:solidFill>
                  <a:srgbClr val="9AA5B1"/>
                </a:solidFill>
                <a:latin typeface="Calibri"/>
              </a:rPr>
              <a:t>Capture d'écran à insérer ici :</a:t>
            </a:r>
          </a:p>
          <a:p>
            <a:pPr algn="ctr"/>
            <a:r>
              <a:rPr sz="1050" i="1">
                <a:solidFill>
                  <a:srgbClr val="9AA5B1"/>
                </a:solidFill>
                <a:latin typeface="Calibri"/>
              </a:rPr>
              <a:t>terminal — test_adapters.py
(validate() en action)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PATTERN ADAPTATEUR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Statut de chaque adaptateur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50000"/>
            <a:ext cx="1024128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3D4D"/>
                </a:solidFill>
                <a:latin typeface="Calibri"/>
              </a:rPr>
              <a:t>•  commun/adapters/ — chaque format a son adaptateur (BaseFlowAdapter.to_canonical()), qui traduit vers le schéma canonique et valide le contrat avant que le modèle ne voie la donnée.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2750000"/>
          <a:ext cx="1024128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2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8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Adaptateur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Statut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netflow_adapter.py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Entraîné + validé (BigFlow-NIDS-V2)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cicflowmeter_adapter.py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Entraîné + validé (CICIDS2017 + CICIDS2018)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zeek_adapter.py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Entraîné + validé (IoT-23, Stratosphere/CTU)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suricata_adapter.py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Testé unitairement, pas entraîné — à ne pas activer en production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QUALITÉ DES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Contrôle de dérive par feature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Risque identifié : une feature peut séparer les sources entre elles plutôt que séparer attaque/normal — le modèle apprendrait alors à reconnaître le format d'origine, pas l'attaque (shortcut-learning).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Contrôle systématique : distribution de chaque feature par source, à label constant, comparée par test de Kolmogorov-Smirnov (KS).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Résultat concret : SHORTEST_FLOW_PKT présentait un KS D=0,999 entre sources — quasi un séparateur de source déguisé. Retirée du schéma canonique (palier 2 passé de 6 à 5 features).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Même logique appliquée en amont : ports et protocole bucketisés (pas de valeur brute) plutôt que laissés en clair, pour la même raison.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Entraînement &amp; résultats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5 versions, un diagnostic à chaque étape, jusqu'aux résultats finaux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Évolution du projet — 5 versions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3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1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8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Résultat / diagnostic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Mono-format — Isolation Forest sur NetFlow seul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F1=72,6% en natif, s'effondre hors format (F1=41,2%)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v2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Schéma canonique multi-format — 1 seul Isolation Forest poolé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Biais de volume : CICFlowMeter ~72% du pool normal domine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Idem v2, hyperparamètres affinés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Même limite — Zeek quasi invisible (AUC ~51%, aléatoire)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Isolation Forest DÉDIÉ par source (StandardScaler + seuil indépendant)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Zeek AUC 51%→92,6% — mais 3 modèles à router en production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v5 (actuelle)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HistGradientBoostingClassifier supervisé, 1 seul modèle partagé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3D4D"/>
                          </a:solidFill>
                          <a:latin typeface="Calibri"/>
                        </a:rPr>
                        <a:t>+20 à +36 pts d'AUC/F1 vs v4 sur toutes les sources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450000"/>
            <a:ext cx="1024128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333D4D"/>
                </a:solidFill>
                <a:latin typeface="Calibri"/>
              </a:rPr>
              <a:t>•  Diagnostic v2/v3 : Isolation Forest apprend sa notion de « normal » à partir du volume relatif de chaque source — Zeek (&lt;1% du pool) était quasiment invisible.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333D4D"/>
                </a:solidFill>
                <a:latin typeface="Calibri"/>
              </a:rPr>
              <a:t>•  Les artefacts v1 à v4 sont conservés à part (rollback possible) mais retirés de la chaîne de production — seule v5 est utilisée aujourd'hui.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Chronologie visuelle — v1 à v5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00000"/>
            <a:ext cx="1800000" cy="1250000"/>
          </a:xfrm>
          <a:prstGeom prst="roundRect">
            <a:avLst>
              <a:gd name="adj" fmla="val 10000"/>
            </a:avLst>
          </a:prstGeom>
          <a:solidFill>
            <a:srgbClr val="FB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2000" b="1">
                <a:solidFill>
                  <a:srgbClr val="E74C3C"/>
                </a:solidFill>
                <a:latin typeface="Calibri"/>
              </a:rPr>
              <a:t>v1</a:t>
            </a:r>
          </a:p>
          <a:p>
            <a:pPr algn="ctr"/>
            <a:r>
              <a:rPr sz="1100" b="0">
                <a:solidFill>
                  <a:srgbClr val="E74C3C"/>
                </a:solidFill>
                <a:latin typeface="Calibri"/>
              </a:rPr>
              <a:t>Mono-format
(Isolation Forest)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22960" y="2795000"/>
            <a:ext cx="280000" cy="26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02960" y="2300000"/>
            <a:ext cx="1800000" cy="1250000"/>
          </a:xfrm>
          <a:prstGeom prst="roundRect">
            <a:avLst>
              <a:gd name="adj" fmla="val 10000"/>
            </a:avLst>
          </a:prstGeom>
          <a:solidFill>
            <a:srgbClr val="FB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2000" b="1">
                <a:solidFill>
                  <a:srgbClr val="E74C3C"/>
                </a:solidFill>
                <a:latin typeface="Calibri"/>
              </a:rPr>
              <a:t>v2</a:t>
            </a:r>
          </a:p>
          <a:p>
            <a:pPr algn="ctr"/>
            <a:r>
              <a:rPr sz="1100" b="0">
                <a:solidFill>
                  <a:srgbClr val="E74C3C"/>
                </a:solidFill>
                <a:latin typeface="Calibri"/>
              </a:rPr>
              <a:t>Canonique
poolé (1 modèle)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02960" y="2795000"/>
            <a:ext cx="280000" cy="26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982960" y="2300000"/>
            <a:ext cx="1800000" cy="1250000"/>
          </a:xfrm>
          <a:prstGeom prst="roundRect">
            <a:avLst>
              <a:gd name="adj" fmla="val 10000"/>
            </a:avLst>
          </a:prstGeom>
          <a:solidFill>
            <a:srgbClr val="FD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2000" b="1">
                <a:solidFill>
                  <a:srgbClr val="B9660A"/>
                </a:solidFill>
                <a:latin typeface="Calibri"/>
              </a:rPr>
              <a:t>v3</a:t>
            </a:r>
          </a:p>
          <a:p>
            <a:pPr algn="ctr"/>
            <a:r>
              <a:rPr sz="1100" b="0">
                <a:solidFill>
                  <a:srgbClr val="B9660A"/>
                </a:solidFill>
                <a:latin typeface="Calibri"/>
              </a:rPr>
              <a:t>Poolé
affiné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782960" y="2795000"/>
            <a:ext cx="280000" cy="26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062960" y="2300000"/>
            <a:ext cx="1800000" cy="1250000"/>
          </a:xfrm>
          <a:prstGeom prst="roundRect">
            <a:avLst>
              <a:gd name="adj" fmla="val 10000"/>
            </a:avLst>
          </a:prstGeom>
          <a:solidFill>
            <a:srgbClr val="FD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2000" b="1">
                <a:solidFill>
                  <a:srgbClr val="B9660A"/>
                </a:solidFill>
                <a:latin typeface="Calibri"/>
              </a:rPr>
              <a:t>v4</a:t>
            </a:r>
          </a:p>
          <a:p>
            <a:pPr algn="ctr"/>
            <a:r>
              <a:rPr sz="1100" b="0">
                <a:solidFill>
                  <a:srgbClr val="B9660A"/>
                </a:solidFill>
                <a:latin typeface="Calibri"/>
              </a:rPr>
              <a:t>Isolation Forest
par source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2960" y="2795000"/>
            <a:ext cx="280000" cy="2600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142960" y="2300000"/>
            <a:ext cx="1800000" cy="12500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2000" b="1">
                <a:solidFill>
                  <a:srgbClr val="27AE60"/>
                </a:solidFill>
                <a:latin typeface="Calibri"/>
              </a:rPr>
              <a:t>v5</a:t>
            </a:r>
          </a:p>
          <a:p>
            <a:pPr algn="ctr"/>
            <a:r>
              <a:rPr sz="1100" b="0">
                <a:solidFill>
                  <a:srgbClr val="27AE60"/>
                </a:solidFill>
                <a:latin typeface="Calibri"/>
              </a:rPr>
              <a:t>HistGB
partagé (actuel)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00000"/>
            <a:ext cx="1024128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9AA5B1"/>
                </a:solidFill>
                <a:latin typeface="Calibri"/>
              </a:rPr>
              <a:t>Chaque flèche = un diagnostic mesuré qui a motivé le changement de version suivant — jamais un choix arbitraire (détail slide précédente).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VUE D'ENSEMBLE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Résultats finaux — modèle actuel en production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9AA5B1"/>
                </a:solidFill>
                <a:latin typeface="Calibri"/>
              </a:rPr>
              <a:t>HistGradientBoostingClassifier partagé, 3 sources, 867 980 flux évalués en validation croisée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00000"/>
            <a:ext cx="2530000" cy="150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37160"/>
            <a:ext cx="25300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96,9%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20000"/>
            <a:ext cx="2530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détection binaire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0000" y="2100000"/>
            <a:ext cx="2530000" cy="150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80000" y="2237160"/>
            <a:ext cx="25300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AUC : 99,6%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0000" y="3120000"/>
            <a:ext cx="2530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aire sous ROC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0000" y="2100000"/>
            <a:ext cx="2530000" cy="150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40000" y="2237160"/>
            <a:ext cx="25300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FPR : 0,8%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000" y="3120000"/>
            <a:ext cx="2530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faux positifs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0000" y="2100000"/>
            <a:ext cx="2530000" cy="150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00000" y="2237160"/>
            <a:ext cx="25300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99,6%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0000" y="3120000"/>
            <a:ext cx="2530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5 catégories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22960" y="3950000"/>
          <a:ext cx="10241279" cy="16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9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Métrique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Palier 1 (poolé)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Palier 2 (poolé)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98,1%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98,1%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95,7%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99,6%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22960" y="5850000"/>
            <a:ext cx="1024128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333D4D"/>
                </a:solidFill>
                <a:latin typeface="Calibri"/>
              </a:rPr>
              <a:t>•  Validé sur 7 tests externes (données réelles jamais vues) — détail en section 10.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Intégration du système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Comment le modèle est appelé en temps réel depuis la chaîne ELK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Intégration ELK — 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3600" y="1650000"/>
            <a:ext cx="7400000" cy="68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Filebeat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modules netflow / zeek — port 5044</a:t>
            </a:r>
          </a:p>
        </p:txBody>
      </p:sp>
      <p:sp>
        <p:nvSpPr>
          <p:cNvPr id="9" name="Down Arrow 8"/>
          <p:cNvSpPr/>
          <p:nvPr/>
        </p:nvSpPr>
        <p:spPr>
          <a:xfrm>
            <a:off x="5693600" y="2330000"/>
            <a:ext cx="500000" cy="28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243600" y="2610000"/>
            <a:ext cx="7400000" cy="78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Logstash — pipeline « nids »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elk/logstash-nids.conf : ruby (sérialise JSON) → http (POST :8000/predict)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693600" y="3390000"/>
            <a:ext cx="500000" cy="28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243600" y="3670000"/>
            <a:ext cx="7400000" cy="7800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Service ML FastAPI — :8000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libri"/>
              </a:rPr>
              <a:t>commun/service.py → NIDSPredictor : Palier 1 puis Palier 2 si attaque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693600" y="4450000"/>
            <a:ext cx="500000" cy="28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243600" y="4730000"/>
            <a:ext cx="7400000" cy="68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Logstash — aplatit ml.*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ml_status / is_attack / anomaly_score / attack_category / confidence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693600" y="5410000"/>
            <a:ext cx="500000" cy="2800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243600" y="5690000"/>
            <a:ext cx="7400000" cy="680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30000" rIns="60000" bIns="30000" rtlCol="0" anchor="ctr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Elasticsearch → Kibana</a:t>
            </a:r>
          </a:p>
          <a:p>
            <a:pPr algn="ctr"/>
            <a:r>
              <a:rPr sz="1050" b="0">
                <a:solidFill>
                  <a:srgbClr val="0B1F3A"/>
                </a:solidFill>
                <a:latin typeface="Calibri"/>
              </a:rPr>
              <a:t>index nids-ml-%{+YYYY.MM.dd}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Détails techniques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commun/inference.py (NIDSPredictor) — </a:t>
            </a:r>
            <a:r>
              <a:rPr sz="1500" b="0">
                <a:solidFill>
                  <a:srgbClr val="333D4D"/>
                </a:solidFill>
                <a:latin typeface="Calibri"/>
              </a:rPr>
              <a:t>point d'entrée unique. Détection de source via event.module ou signature de champs ; si &lt;30% de champs manquants (SEUIL_IMPUTATION=0,30), imputation dégradée par médiane par source ; sinon ml_status="format_non_reconnu" — jamais de perte silencieuse d'événement.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commun/service.py — </a:t>
            </a:r>
            <a:r>
              <a:rPr sz="1500" b="0">
                <a:solidFill>
                  <a:srgbClr val="333D4D"/>
                </a:solidFill>
                <a:latin typeface="Calibri"/>
              </a:rPr>
              <a:t>wrapper FastAPI minimal (endpoints /health, /predict) autour de NIDSPredictor, lancé via uvicorn --port 8000.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elk/logstash-nids.conf — </a:t>
            </a:r>
            <a:r>
              <a:rPr sz="1500" b="0">
                <a:solidFill>
                  <a:srgbClr val="333D4D"/>
                </a:solidFill>
                <a:latin typeface="Calibri"/>
              </a:rPr>
              <a:t>pipeline isolée (pipeline.id distinct de la chaîne SSH/syslog existante), timeouts connect=5s/socket=10s/request=15s ; si le service ML est injoignable, ajoute ml_status="service_indisponible" sans perdre l'event.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elk/es-index-template.json — </a:t>
            </a:r>
            <a:r>
              <a:rPr sz="1500" b="0">
                <a:solidFill>
                  <a:srgbClr val="333D4D"/>
                </a:solidFill>
                <a:latin typeface="Calibri"/>
              </a:rPr>
              <a:t>typage explicite des 5 champs de sortie ML (ml_status keyword, is_attack boolean, anomaly_score float, attack_category keyword, confidence float).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Statut de validation honnête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5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3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Composant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Statut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Service ML (FastAPI)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Testé avec de vraies requêtes HTTP (/health, /predict — normal ET attaque réelle étiquetée)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Compatibilité Filebeat/Zeek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Vérifiée contre le code source Filebeat + fixture officielle Elastic — pas contre un Filebeat en fonctionnement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Config Logstash / index template ES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Syntaxe vérifiée contre la doc officielle — jamais exécutée contre une vraie instance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Adaptateur Suricata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D4D"/>
                          </a:solidFill>
                          <a:latin typeface="Calibri"/>
                        </a:rPr>
                        <a:t>Présent dans le code, jamais entraîné/validé — à ne pas activer en production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550000"/>
            <a:ext cx="102412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9AA5B1"/>
                </a:solidFill>
                <a:latin typeface="Calibri"/>
              </a:rPr>
              <a:t>Pas de docker-compose.yml trouvé — déploiement documenté manuellement (elk/README.md, ordre : service ML → template ES → Filebeat → Logstash).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Scénarios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7 tests sur données réelles, jamais vues à l'entraînement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MÉTHODOLOGIE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Principe des tests de validation terrain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Principe : rejouer les modèles déjà entraînés (aucun réentraînement) sur des fichiers publics réels, si possible jamais vus à l'entraînement — preuve de généralisation, pas juste un split interne.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Honnêteté méthodologique : quand un recouvrement partiel avec le train a été détecté après coup (Test 1, 4, 5), c'est signalé explicitement plutôt que masqué — avec une mesure disjointe alternative quand c'est possible.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333D4D"/>
                </a:solidFill>
                <a:latin typeface="Calibri"/>
              </a:rPr>
              <a:t>•  Sources couvertes : CICIDS2017 (Test 1), IoT-23 3 captures différentes (Tests 2, 3, 6), CICIDS2018 + IoT-23 combinés (Test 4), NetFlow natif (Test 5), compatibilité Filebeat/ECS (Test 7).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CICIDS2017 — Contrôle de cohérence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2 830 743 flux (Normal=2 273 097, Attaques=557 646, 19,7%) — ⚠ recouvrement partiel avec le train, pas un holdout strict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98,03%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(Isolation Forest, cicflowmeter)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99,67%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(pondéré, 5 catégories)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74C3C"/>
                </a:solidFill>
                <a:latin typeface="Calibri"/>
              </a:rPr>
              <a:t>F1 : 0,04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acces_non_autorise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(support=36, très rare)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1 : Accuracy=99,23% Precision=98,14% Recall=97,93% AUC=99,90% FPR=0,46%.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2 : intrusion_reseau, port_scanning, suspicious_activity quasi parfaits (F1≈1,00) — mais acces_non_autorise (36 exemples) reste mal séparée : catégorie trop rare pour ce test.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Conclusion : bon signal de cohérence interne, mais à ne pas lire comme une preuve de généralisation.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IoT-23 Capture-20-1 — Jamais vue, petit échantillon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3 209 flux Zeek (Normal=3 193 / Attaques=16, 0,50%) — modèle zeek entraîné uniquement sur Capture-3-1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AUC : 97,36%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Isolation Forest (zeek dédié)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FPR : 0,03%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Très peu de faux positifs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74C3C"/>
                </a:solidFill>
                <a:latin typeface="Calibri"/>
              </a:rPr>
              <a:t>F1 : 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(16 attaques seulement)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1 : Accuracy=99,91% Precision=93,33% Recall=87,50% F1=90,32% (TN=3192 FP=1 FN=2 TP=14).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2 : échec total sur cet échantillon — mais 16 attaques seulement, résultat statistiquement peu significatif.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Utilité du test : première preuve sur une capture totalement inédite, même famille de malware que le train.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IoT-23 Capture-48-1 — Mirai à grande échelle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3 394 338 flux (Normal=3 734 / Attaques=3 390 604, 99,89%) — capture jamais vue à l'entraînement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74C3C"/>
                </a:solidFill>
                <a:latin typeface="Calibri"/>
              </a:rPr>
              <a:t>Recall : 51,0%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1er essai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(avant correctif)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Recall : 99,9%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Après correctif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(pondération par source)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AUC : 99,97%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Résultat final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Diagnostic : le 1er entraînement supervisé ratait la moitié des attaques Mirai sur cette capture (Recall=51,0%).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Piste retenue : pondération par SOURCE dans la fonction de perte à l'entraînement (poids zeek=9,27, cicflowmeter=0,45, netflow=1,54) — Recall 51,0%→99,9%, léger recul ailleurs (F1 CICFlowMeter 98,6%→98,0%).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2 : Accuracy=99,92%, F1 pondéré=99,90% (port_scanning F1=1,00 sur 3 387 007 exemples).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CICIDS2018 + IoT-23 combinés — 5 catégories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40 000 flux (Normal=10 000 / Attaques=30 000, 75%) — 2 sources jamais vues, combinées pour couvrir les 5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89,7%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 (mesure fiable,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échantillon 2018 disjoint)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74C3C"/>
                </a:solidFill>
                <a:latin typeface="Calibri"/>
              </a:rPr>
              <a:t>F1 : 42,7%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Ancien Isolation Forest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(même échantillon disjoint)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99,60%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5 catégories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⚠ ~94% des lignes cicflowmeter de ce test recouvrent en fait le train — mesure fiable = validate_2018_holdout.py (échantillon garanti disjoint).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Sur cet échantillon disjoint : Palier 1 supervisé Acc=90,1% Prec=96,7% Rec=83,7% F1=89,7% AUC=94,0% — contre l'ancien Isolation Forest F1=42,7% AUC=58,8%.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2 (5 catégories, 6 000 exemples chacune) : Accuracy=99,60%, F1 par catégorie entre 0,99 et 1,00.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BigFlow-NIDS-V2 — 4 derniers millions de lignes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4 000 000 flux NetFlow (Normal=1 926 539 / Attaques=2 073 461, 51,84%) — ⚠ pas un holdout strict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91,04%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Isolation Forest (netflow dédié)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97,66%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5 catégories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39C12"/>
                </a:solidFill>
                <a:latin typeface="Calibri"/>
              </a:rPr>
              <a:t>F1 : 0,86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acces_non_autorise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(support=33 678)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1 : Accuracy=91,38% Precision=98,79% Recall=84,42% AUC=98,00% FPR=1,12%.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2 : intrusion_reseau F1=0,99, brute_force F1=0,97, port_scanning F1=0,89, suspicious_activity F1=0,92, acces_non_autorise F1=0,86.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La catégorie la plus rare reste la plus faible, mais reste exploitable ici (33 678 exemples, contraste avec Test 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0B1F3A"/>
                </a:solidFill>
                <a:latin typeface="Calibri"/>
              </a:rPr>
              <a:t>IoT-23 Capture-1-1 — Malware « Hide and Seek »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24128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9AA5B1"/>
                </a:solidFill>
                <a:latin typeface="Calibri"/>
              </a:rPr>
              <a:t>1 008 748 flux (Normal=469 275 / Attaques=539 473, 53,48%) — famille de malware jamais vue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74C3C"/>
                </a:solidFill>
                <a:latin typeface="Calibri"/>
              </a:rPr>
              <a:t>FPR : 28,19%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Point de vigilance réel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pour l'intégration ELK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624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24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F39C12"/>
                </a:solidFill>
                <a:latin typeface="Calibri"/>
              </a:rPr>
              <a:t>Recall : 81,93%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24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1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reste au-dessus de 80%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9520" y="2150000"/>
            <a:ext cx="3383280" cy="135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9520" y="228716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27AE60"/>
                </a:solidFill>
                <a:latin typeface="Calibri"/>
              </a:rPr>
              <a:t>F1 : 99,26%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9520" y="302000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Palier 2</a:t>
            </a:r>
          </a:p>
          <a:p>
            <a:pPr algn="ctr"/>
            <a:r>
              <a:rPr sz="1150" b="0" i="0">
                <a:solidFill>
                  <a:srgbClr val="333D4D"/>
                </a:solidFill>
                <a:latin typeface="Calibri"/>
              </a:rPr>
              <a:t>(port_scanning dominant)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50000"/>
            <a:ext cx="1024128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Premier test zeek avec un vrai volume de trafic normal (469 275 lignes).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Palier 1 : Accuracy=77,22% Precision=76,97% Recall=81,93% F1=79,37% AUC=80,14% FPR=28,19%.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333D4D"/>
                </a:solidFill>
                <a:latin typeface="Calibri"/>
              </a:rPr>
              <a:t>•  Conclusion honnête : la généralisation cross-dataset (même format, capture différente) reste une vraie limite — plus de faux positifs à filtrer côté SOC sur une famille de malware inconnue.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TEST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Compatibilité Filebeat/ECS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000"/>
            <a:ext cx="10241280" cy="4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Nature différente des 6 tests précédents : </a:t>
            </a:r>
            <a:r>
              <a:rPr sz="1450" b="0">
                <a:solidFill>
                  <a:srgbClr val="333D4D"/>
                </a:solidFill>
                <a:latin typeface="Calibri"/>
              </a:rPr>
              <a:t>pas un test de performance holdout — une validation de bout en bout que le module Filebeat Zeek (qui renomme les champs natifs en nommage ECS) est correctement géré par zeek_adapter.py.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Constat initial (avant correctif) : </a:t>
            </a:r>
            <a:r>
              <a:rPr sz="1450" b="0">
                <a:solidFill>
                  <a:srgbClr val="333D4D"/>
                </a:solidFill>
                <a:latin typeface="Calibri"/>
              </a:rPr>
              <a:t>Filebeat/ECS renomme systématiquement les champs (ex. id.resp_p→destination.port) — to_canonical() levait un KeyError, avalé silencieusement → 100% des events zeek réels via ELK auraient fini en format_non_reconnu.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Après correctif, sur 3 209 flux réels IoT-23 reconstruits en forme Filebeat/ECS : </a:t>
            </a:r>
            <a:r>
              <a:rPr sz="1450" b="0">
                <a:solidFill>
                  <a:srgbClr val="333D4D"/>
                </a:solidFill>
                <a:latin typeface="Calibri"/>
              </a:rPr>
              <a:t>taux d'événements scorés 0%→100%, accord prédictions natif vs ECS = 100,00%, accord avec la vérité terrain = 99,91%.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Rejoué sur le scénario 5 catégories complet (Test 4) : </a:t>
            </a:r>
            <a:r>
              <a:rPr sz="1450" b="0">
                <a:solidFill>
                  <a:srgbClr val="333D4D"/>
                </a:solidFill>
                <a:latin typeface="Calibri"/>
              </a:rPr>
              <a:t>résultats strictement identiques au Test 4 natif — router par Filebeat/ECS ne change rien au résultat final.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333D4D"/>
                </a:solidFill>
                <a:latin typeface="Calibri"/>
              </a:rPr>
              <a:t>•  Limite honnête : </a:t>
            </a:r>
            <a:r>
              <a:rPr sz="1450" b="0">
                <a:solidFill>
                  <a:srgbClr val="333D4D"/>
                </a:solidFill>
                <a:latin typeface="Calibri"/>
              </a:rPr>
              <a:t>validé contre le code source Filebeat et une fixture officielle Elastic, pas contre un vrai cluster ELK en fonctionnement (aucun disponible dans l'environnement).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Synthèse des 7 tests hors-échantillon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50000"/>
          <a:ext cx="10241278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3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7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37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10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Données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Résultat clé Palier 1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CICIDS2017 (cohérence)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2,83 M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F1=98,0% (⚠ recouvrement partiel train)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IoT-23 Capture-20-1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3 209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F1=90,3% (échantillon minuscule, 16 attaques)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IoT-23 Capture-48-1 (Mirai)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3,39 M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Recall 51,0%→99,9% après pondération par source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CICIDS2018 + IoT-23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40 000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F1=89,7% (échantillon disjoint 2018) vs 42,7% ancien IF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BigFlow-NIDS-V2 (fin)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4,0 M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F1=91,0% (⚠ pas un holdout strict)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IoT-23 Capture-1-1 (Hide&amp;Seek)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1,01 M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FPR=28,2% — limite cross-dataset réelle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Compatibilité Filebeat/ECS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3 209 + 40 000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100% events scorés, 99,91% accord vérité terrain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450000"/>
            <a:ext cx="1024128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Constat transversal : le problème de généralisation CROSS-FORMAT (résolu par le schéma canonique) est différent du problème de généralisation CROSS-DATASET au sein d'un même format (Test 6) — ce second problème reste une limite réelle, documentée plutôt que masquée.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Visualisation &amp; supervision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Ce que l'analyste SOC voit dans Kibana, et comment il supervise le modèle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VISUALISATION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Ce que Kibana peut exposer, grâce à l'index typé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L'index nids-ml-* type explicitement 5 champs de sortie ML (ml_status, is_attack, anomaly_score, attack_category, confidence) — le reste (event.*, source.*, zeek.*) reste dynamique, donc directement exploitable dans Kibana Discover sans configuration supplémentaire.</a:t>
            </a:r>
          </a:p>
          <a:p>
            <a:pPr>
              <a:spcAft>
                <a:spcPts val="11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Vues envisagées pour un analyste SOC : nombre d'attaques détectées dans le temps (is_attack), répartition par catégorie (attack_category), distribution de la confiance des prédictions, flux filtrés par ml_status pour repérer les formats non reconnus.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4100000"/>
          <a:ext cx="10241278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86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95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Champ ES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Usage Kibana envisagé</a:t>
                      </a:r>
                    </a:p>
                  </a:txBody>
                  <a:tcPr marL="60000" marR="60000" marT="20000" marB="20000"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is_attack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Série temporelle du volume d'attaques détectées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attack_category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keyword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Répartition en camembert/barres des 5 catégories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Histogramme — repérer les prédictions incertaines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ml_status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keyword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D4D"/>
                          </a:solidFill>
                          <a:latin typeface="Calibri"/>
                        </a:rPr>
                        <a:t>Filtre de supervision (ok / service_indisponible / format_non_reconnu)</a:t>
                      </a:r>
                    </a:p>
                  </a:txBody>
                  <a:tcPr marL="60000" marR="60000" marT="20000" marB="20000"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SUPERVISION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Superviser le modèle lui-même, pas seulement les alertes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1">
                <a:solidFill>
                  <a:srgbClr val="333D4D"/>
                </a:solidFill>
                <a:latin typeface="Calibri"/>
              </a:rPr>
              <a:t>•  ml_status comme signal de santé du pipeline : </a:t>
            </a:r>
            <a:r>
              <a:rPr sz="1550" b="0">
                <a:solidFill>
                  <a:srgbClr val="333D4D"/>
                </a:solidFill>
                <a:latin typeface="Calibri"/>
              </a:rPr>
              <a:t>"service_indisponible" indique une panne du service ML (Logstash continue vers ES sans perdre l'événement) ; "format_non_reconnu" indique un event dont la source n'a pas pu être identifiée ou trop de champs manquants (&gt;30%) — deux signaux à surveiller en continu, pas seulement les attaques elles-mêmes.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333D4D"/>
                </a:solidFill>
                <a:latin typeface="Calibri"/>
              </a:rPr>
              <a:t>•  confidence comme signal de dérive : </a:t>
            </a:r>
            <a:r>
              <a:rPr sz="1550" b="0">
                <a:solidFill>
                  <a:srgbClr val="333D4D"/>
                </a:solidFill>
                <a:latin typeface="Calibri"/>
              </a:rPr>
              <a:t>une baisse durable de la confiance moyenne des prédictions du palier 2 peut indiquer que le trafic réel s'écarte progressivement des données d'entraînement — un déclencheur naturel pour envisager un réentraînement.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333D4D"/>
                </a:solidFill>
                <a:latin typeface="Calibri"/>
              </a:rPr>
              <a:t>•  État actuel, honnêteté : </a:t>
            </a:r>
            <a:r>
              <a:rPr sz="1550" b="0">
                <a:solidFill>
                  <a:srgbClr val="333D4D"/>
                </a:solidFill>
                <a:latin typeface="Calibri"/>
              </a:rPr>
              <a:t>aucun dashboard Kibana pré-construit n'a été exporté (.ndjson) dans ce PFE — l'index template est prêt et permet de les construire directement, c'est un travail de finition identifié en perspective (section 12).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Résultats, conclusion &amp;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D3DE"/>
                </a:solidFill>
                <a:latin typeface="Calibri"/>
              </a:rPr>
              <a:t>Ce qui a été démontré, et ce qu'il reste à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LIMITES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B1F3A"/>
                </a:solidFill>
                <a:latin typeface="Calibri"/>
              </a:rPr>
              <a:t>Ce qui reste à faire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24128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Généralisation cross-dataset (même format, capture différente) : </a:t>
            </a:r>
            <a:r>
              <a:rPr sz="1500" b="0">
                <a:solidFill>
                  <a:srgbClr val="333D4D"/>
                </a:solidFill>
                <a:latin typeface="Calibri"/>
              </a:rPr>
              <a:t>confirmée comme une limite réelle par le Test 6 (FPR=28,2% sur une famille de malware inconnue), distincte du problème cross-format déjà résolu.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Compromis « zero-day » assumé : </a:t>
            </a:r>
            <a:r>
              <a:rPr sz="1500" b="0">
                <a:solidFill>
                  <a:srgbClr val="333D4D"/>
                </a:solidFill>
                <a:latin typeface="Calibri"/>
              </a:rPr>
              <a:t>le passage à un modèle supervisé améliore massivement la performance mesurée, mais perd la capacité de l'ancien Isolation Forest à flaguer un pattern totalement inconnu.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Suricata : </a:t>
            </a:r>
            <a:r>
              <a:rPr sz="1500" b="0">
                <a:solidFill>
                  <a:srgbClr val="333D4D"/>
                </a:solidFill>
                <a:latin typeface="Calibri"/>
              </a:rPr>
              <a:t>adaptateur écrit et testé unitairement, mais aucune donnée réelle disponible pour l'entraîner ou le valider.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AWS VPC Flow Logs : </a:t>
            </a:r>
            <a:r>
              <a:rPr sz="1500" b="0">
                <a:solidFill>
                  <a:srgbClr val="333D4D"/>
                </a:solidFill>
                <a:latin typeface="Calibri"/>
              </a:rPr>
              <a:t>non implémenté — format unidirectionnel, nécessite une corrélation biflow en amont non développée faute de données.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33D4D"/>
                </a:solidFill>
                <a:latin typeface="Calibri"/>
              </a:rPr>
              <a:t>•  Chaîne ELK et dashboards Kibana : </a:t>
            </a:r>
            <a:r>
              <a:rPr sz="1500" b="0">
                <a:solidFill>
                  <a:srgbClr val="333D4D"/>
                </a:solidFill>
                <a:latin typeface="Calibri"/>
              </a:rPr>
              <a:t>jamais exécutés de bout en bout contre une vraie instance — validation actuelle limitée au service ML en HTTP direct et à la compatibilité Filebeat/ECS hors-ligne.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5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D'un modèle qui s'effondrait hors de son format d'entraînement</a:t>
            </a:r>
          </a:p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à une architecture testée, honnête et déployable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000"/>
            <a:ext cx="1024128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Palier 1 : passage d'un modèle mono-format (F1=41,2% hors format natif) à un socle canonique multi-format, puis d'un Isolation Forest par source à un HistGradientBoosting supervisé partagé (+35,7 pts de F1 sur CICFlowMeter, +23,6 sur NetFlow).</a:t>
            </a:r>
          </a:p>
          <a:p>
            <a:pPr>
              <a:spcAft>
                <a:spcPts val="13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Palier 2 : F1 pondéré 99,6% poolé sur 3 sources, 5 catégories d'attaque, seuil de confiance pour l'automatisation SOC.</a:t>
            </a:r>
          </a:p>
          <a:p>
            <a:pPr>
              <a:spcAft>
                <a:spcPts val="13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Validation : 7 tests sur données réelles jamais vues, avec leurs limites signalées honnêtement plutôt que masquées.</a:t>
            </a:r>
          </a:p>
          <a:p>
            <a:pPr>
              <a:spcAft>
                <a:spcPts val="1300"/>
              </a:spcAft>
            </a:pPr>
            <a:r>
              <a:rPr sz="1550">
                <a:solidFill>
                  <a:srgbClr val="333D4D"/>
                </a:solidFill>
                <a:latin typeface="Calibri"/>
              </a:rPr>
              <a:t>•  Intégration : chaîne ELK conçue et documentée de bout en bout, service ML testé en conditions réelles — reste à confirmer sur une instance ELK réelle et à construire les dashboards Kibana.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0000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50000"/>
            <a:ext cx="978408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39C12"/>
                </a:solidFill>
                <a:latin typeface="Calibri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A8F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6223</Words>
  <Application>Microsoft Office PowerPoint</Application>
  <PresentationFormat>Grand écran</PresentationFormat>
  <Paragraphs>710</Paragraphs>
  <Slides>54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Omar lkhadir</cp:lastModifiedBy>
  <cp:revision>2</cp:revision>
  <dcterms:created xsi:type="dcterms:W3CDTF">2013-01-27T09:14:16Z</dcterms:created>
  <dcterms:modified xsi:type="dcterms:W3CDTF">2026-08-27T02:53:10Z</dcterms:modified>
  <cp:category/>
</cp:coreProperties>
</file>