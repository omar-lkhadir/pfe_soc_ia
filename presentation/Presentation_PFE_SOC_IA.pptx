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81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Style clair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37160" cy="128016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9C12"/>
                </a:solidFill>
                <a:latin typeface="Calibri"/>
              </a:rPr>
              <a:t>PFE IT6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SOC Intelligent basé sur ELK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3DE"/>
                </a:solidFill>
                <a:latin typeface="Calibri"/>
              </a:rPr>
              <a:t>Détection d'intrusions réseau par Machine Learning : Isolation Forest &amp;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7A8"/>
                </a:solidFill>
                <a:latin typeface="Calibri"/>
              </a:rPr>
              <a:t>Projet de Fin d'Études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Plan de la présentation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737360"/>
            <a:ext cx="960120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dirty="0">
                <a:solidFill>
                  <a:srgbClr val="333D4D"/>
                </a:solidFill>
                <a:latin typeface="Calibri"/>
              </a:rPr>
              <a:t>•  Architecture de la solution (2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modèles</a:t>
            </a:r>
            <a:r>
              <a:rPr sz="2000" dirty="0">
                <a:solidFill>
                  <a:srgbClr val="333D4D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complémentaires</a:t>
            </a:r>
            <a:r>
              <a:rPr sz="2000" dirty="0">
                <a:solidFill>
                  <a:srgbClr val="333D4D"/>
                </a:solidFill>
                <a:latin typeface="Calibri"/>
              </a:rPr>
              <a:t>)</a:t>
            </a:r>
          </a:p>
          <a:p>
            <a:pPr>
              <a:spcAft>
                <a:spcPts val="1800"/>
              </a:spcAft>
            </a:pPr>
            <a:r>
              <a:rPr sz="2000" dirty="0">
                <a:solidFill>
                  <a:srgbClr val="333D4D"/>
                </a:solidFill>
                <a:latin typeface="Calibri"/>
              </a:rPr>
              <a:t>•  Le jeu de données BigFlow-NIDS-V2 (format NetFlow)</a:t>
            </a:r>
          </a:p>
          <a:p>
            <a:pPr>
              <a:spcAft>
                <a:spcPts val="1800"/>
              </a:spcAft>
            </a:pPr>
            <a:r>
              <a:rPr sz="2000" dirty="0">
                <a:solidFill>
                  <a:srgbClr val="333D4D"/>
                </a:solidFill>
                <a:latin typeface="Calibri"/>
              </a:rPr>
              <a:t>•  Isolation Forest —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détection</a:t>
            </a:r>
            <a:r>
              <a:rPr sz="2000" dirty="0">
                <a:solidFill>
                  <a:srgbClr val="333D4D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d'anomalies</a:t>
            </a:r>
            <a:r>
              <a:rPr sz="2000" dirty="0">
                <a:solidFill>
                  <a:srgbClr val="333D4D"/>
                </a:solidFill>
                <a:latin typeface="Calibri"/>
              </a:rPr>
              <a:t> (Normal /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Attaque</a:t>
            </a:r>
            <a:r>
              <a:rPr sz="2000" dirty="0">
                <a:solidFill>
                  <a:srgbClr val="333D4D"/>
                </a:solidFill>
                <a:latin typeface="Calibri"/>
              </a:rPr>
              <a:t>)</a:t>
            </a:r>
          </a:p>
          <a:p>
            <a:pPr>
              <a:spcAft>
                <a:spcPts val="1800"/>
              </a:spcAft>
            </a:pPr>
            <a:r>
              <a:rPr sz="2000" dirty="0">
                <a:solidFill>
                  <a:srgbClr val="333D4D"/>
                </a:solidFill>
                <a:latin typeface="Calibri"/>
              </a:rPr>
              <a:t>•  Random Forest —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catégorisation</a:t>
            </a:r>
            <a:r>
              <a:rPr sz="2000" dirty="0">
                <a:solidFill>
                  <a:srgbClr val="333D4D"/>
                </a:solidFill>
                <a:latin typeface="Calibri"/>
              </a:rPr>
              <a:t> des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attaques</a:t>
            </a:r>
            <a:r>
              <a:rPr sz="2000" dirty="0">
                <a:solidFill>
                  <a:srgbClr val="333D4D"/>
                </a:solidFill>
                <a:latin typeface="Calibri"/>
              </a:rPr>
              <a:t> (5 classes)</a:t>
            </a:r>
          </a:p>
          <a:p>
            <a:pPr>
              <a:spcAft>
                <a:spcPts val="1800"/>
              </a:spcAft>
            </a:pPr>
            <a:r>
              <a:rPr sz="2000" dirty="0">
                <a:solidFill>
                  <a:srgbClr val="333D4D"/>
                </a:solidFill>
                <a:latin typeface="Calibri"/>
              </a:rPr>
              <a:t>• 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Synthèse</a:t>
            </a:r>
            <a:r>
              <a:rPr sz="2000" dirty="0">
                <a:solidFill>
                  <a:srgbClr val="333D4D"/>
                </a:solidFill>
                <a:latin typeface="Calibri"/>
              </a:rPr>
              <a:t> comparative &amp; </a:t>
            </a:r>
            <a:r>
              <a:rPr sz="2000" dirty="0" err="1">
                <a:solidFill>
                  <a:srgbClr val="333D4D"/>
                </a:solidFill>
                <a:latin typeface="Calibri"/>
              </a:rPr>
              <a:t>limites</a:t>
            </a:r>
            <a:endParaRPr sz="2000" dirty="0">
              <a:solidFill>
                <a:srgbClr val="333D4D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dirty="0">
                <a:solidFill>
                  <a:srgbClr val="333D4D"/>
                </a:solidFill>
                <a:latin typeface="Calibri"/>
              </a:rPr>
              <a:t>•  Conclusion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Une architecture à deux modèles complémentaires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19050">
            <a:solidFill>
              <a:srgbClr val="3498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3498DB"/>
                </a:solidFill>
                <a:latin typeface="Calibri"/>
              </a:rPr>
              <a:t>1. Isolation Forest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333D4D"/>
                </a:solidFill>
                <a:latin typeface="Calibri"/>
              </a:rPr>
              <a:t>Détection d'anomalies (non-supervisé)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4480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Entraîné UNIQUEMENT sur du trafic normal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Détecte les déviations : Normal vs Attaque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Couvre les anomalies volumétriques/inconnues (DDoS, DoS, brute-force bruyant)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12064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19050">
            <a:solidFill>
              <a:srgbClr val="9B59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20116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59B6"/>
                </a:solidFill>
                <a:latin typeface="Calibri"/>
              </a:rPr>
              <a:t>2. Random 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5146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333D4D"/>
                </a:solidFill>
                <a:latin typeface="Calibri"/>
              </a:rPr>
              <a:t>Catégorisation supervisée (5 classes)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017520"/>
            <a:ext cx="4480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Entraîné uniquement sur des flux d'attaque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Identifie la catégorie : brute force, scan, intrusion réseau, activité suspecte, accès non autorisé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33D4D"/>
                </a:solidFill>
                <a:latin typeface="Calibri"/>
              </a:rPr>
              <a:t>•  Couvre les attaques 'discrètes' (scan, brute-force, infiltration) invisibles pour l'IF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>
                <a:solidFill>
                  <a:srgbClr val="0B1F3A"/>
                </a:solidFill>
                <a:latin typeface="Calibri"/>
              </a:rPr>
              <a:t>Jeu de données : BigFlow-NIDS-V2 (format NetFlow)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5</a:t>
            </a:r>
          </a:p>
        </p:txBody>
      </p:sp>
      <p:graphicFrame>
        <p:nvGraphicFramePr>
          <p:cNvPr id="23" name="Tableau 22">
            <a:extLst>
              <a:ext uri="{FF2B5EF4-FFF2-40B4-BE49-F238E27FC236}">
                <a16:creationId xmlns:a16="http://schemas.microsoft.com/office/drawing/2014/main" id="{C3610616-C320-BAD3-4B88-F120C3305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957898"/>
              </p:ext>
            </p:extLst>
          </p:nvPr>
        </p:nvGraphicFramePr>
        <p:xfrm>
          <a:off x="3482658" y="1573775"/>
          <a:ext cx="5223635" cy="486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543788">
                  <a:extLst>
                    <a:ext uri="{9D8B030D-6E8A-4147-A177-3AD203B41FA5}">
                      <a16:colId xmlns:a16="http://schemas.microsoft.com/office/drawing/2014/main" val="420054623"/>
                    </a:ext>
                  </a:extLst>
                </a:gridCol>
                <a:gridCol w="2679847">
                  <a:extLst>
                    <a:ext uri="{9D8B030D-6E8A-4147-A177-3AD203B41FA5}">
                      <a16:colId xmlns:a16="http://schemas.microsoft.com/office/drawing/2014/main" val="3582959750"/>
                    </a:ext>
                  </a:extLst>
                </a:gridCol>
              </a:tblGrid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 dirty="0"/>
                        <a:t>Caractéristique</a:t>
                      </a:r>
                      <a:endParaRPr lang="fr-FR" sz="2000" dirty="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Description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1626972061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 dirty="0"/>
                        <a:t>Nom du </a:t>
                      </a:r>
                      <a:r>
                        <a:rPr lang="fr-FR" sz="2000" b="1" dirty="0" err="1"/>
                        <a:t>dataset</a:t>
                      </a:r>
                      <a:endParaRPr lang="fr-FR" sz="2000" dirty="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/>
                        <a:t>BigFlow-NIDS-V2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222249245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 dirty="0"/>
                        <a:t>Nombre total de flux</a:t>
                      </a:r>
                      <a:endParaRPr lang="fr-FR" sz="2000" dirty="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66 935 021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2177128636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Trafic normal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/>
                        <a:t>36 596 560 flux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633719174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Trafic malveillant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30 338 461 flux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2077671065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Nombre de caractéristiques (features)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55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3606781165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Nombre de classes d'attaques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32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2578952912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Formats disponibles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CSV, Parquet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3899677167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Technologie de traitement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Apache Spark (Big Data)</a:t>
                      </a:r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2657585754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b="1"/>
                        <a:t>Type de données</a:t>
                      </a:r>
                      <a:endParaRPr lang="fr-FR" sz="2000"/>
                    </a:p>
                  </a:txBody>
                  <a:tcPr marL="59552" marR="59552" marT="29776" marB="297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Flux réseau </a:t>
                      </a:r>
                      <a:r>
                        <a:rPr lang="fr-FR" sz="2000" dirty="0" err="1"/>
                        <a:t>NetFlow</a:t>
                      </a:r>
                      <a:endParaRPr lang="fr-FR" sz="2000" dirty="0"/>
                    </a:p>
                  </a:txBody>
                  <a:tcPr marL="59552" marR="59552" marT="29776" marB="29776" anchor="ctr"/>
                </a:tc>
                <a:extLst>
                  <a:ext uri="{0D108BD9-81ED-4DB2-BD59-A6C34878D82A}">
                    <a16:rowId xmlns:a16="http://schemas.microsoft.com/office/drawing/2014/main" val="136873766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9C12"/>
                </a:solidFill>
                <a:latin typeface="Calibri"/>
              </a:rPr>
              <a:t>PARTIE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Isolation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9D3DE"/>
                </a:solidFill>
                <a:latin typeface="Calibri"/>
              </a:rPr>
              <a:t>Détection d'anomalies : Normal vs Attaque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Distribution globale du trafic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1_distribution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213" y="1554480"/>
            <a:ext cx="9987268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3 M d'événements échantillonnés aléatoirement (68% Normal / 32% Attaque, proportions natives du dataset).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Catégories d'attaques réelles observées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2_types_atta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82" y="1554480"/>
            <a:ext cx="9859331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Diversité des sous-types d'attaques présents dans l'échantillon avant regroupement.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Distribution du trafic réseau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3_distribution_tra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295" y="1554480"/>
            <a:ext cx="5551105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Volumes entrant/sortant, durée des sessions et ratio de bytes — features dérivées génériques.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Ports &amp; protocoles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4_ports_protoc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853" y="1554480"/>
            <a:ext cx="9931988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Ports et protocoles les plus représentés dans le trafic échantillonné.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Tableau de bord récapitulatif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5_tableau_de_b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639" y="1554480"/>
            <a:ext cx="6868416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Résultats d'évaluation — Isolation Forest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valuation_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719" y="1554480"/>
            <a:ext cx="9972257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Accuracy 79,9% · Precision 68,1% · Recall 77,8% · F1 72,6% · AUC-ROC 85,2%  (TP=137 490, FP=64 515, FN=39 246, TN=276 256)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ISOLATION FOREST — LIMITE CONNUE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Une limite architecturale, pas un bug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73736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Scanning, Reconnaissance, FTP-BruteForce, Infiltration restent quasi indétectables (recall &lt; 15%), même après enrichissement à 26 features.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Raison : ces attaques se distinguent par un pattern MULTI-flux dans le temps (ex : une IP contactant 50 ports en 10 s) — invisible pour un détecteur qui juge chaque flux isolément.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Décision d'architecture : ces catégories sont couvertes par le Random Forest supervisé, qui atteint 98–100% de recall sur ces attaques car il apprend directement sur les labels.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L'Isolation Forest reste responsable des anomalies volumétriques/inconnues (DDoS, DoS, brute-force bruyant : 83–100% de recall).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9C12"/>
                </a:solidFill>
                <a:latin typeface="Calibri"/>
              </a:rPr>
              <a:t>PARTIE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9D3DE"/>
                </a:solidFill>
                <a:latin typeface="Calibri"/>
              </a:rPr>
              <a:t>Catégorisation des attaques en 5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RANDOM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Types d'attaques bruts (avant regroupement)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1_types_br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324" y="1554480"/>
            <a:ext cx="9995046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Diversité brute des labels d'attaque présents dans le dataset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RANDOM FOREST — NETTOYAGE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Les 5 catégories officielles d'attaques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2_cinq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264" y="1554480"/>
            <a:ext cx="9219166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Regroupement des types bruts en 5 catégories métier : intrusion_reseau domine (58,9%).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RANDOM FOREST — ENTRAÎNEMENT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Configuration du modèle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7373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18 features NetFlow (13 brutes + 5 agrégats génériques réplicables en ELK)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RandomForestClassifier : n_estimators=300, max_depth=15, class_weight='balanced'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Entraîné uniquement sur des flux d'ATTAQUE (le Normal est filtré en amont)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Normalisation StandardScaler fit sur le train uniquement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Seuil de confiance production = 0,7 pour l'auto-classification (sinon revue manuelle)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RANDOM FOREST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Résultats d'évaluation — Random Forest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valuation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554480"/>
            <a:ext cx="11064240" cy="41270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18703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Accuracy 98,9% · Precision 99,0% · Recall 98,9% · F1 98,9% (pondérés, 439 588 attaques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20040"/>
            <a:ext cx="73152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1400" b="1" dirty="0">
                <a:solidFill>
                  <a:srgbClr val="F39C12"/>
                </a:solidFill>
                <a:latin typeface="Calibri"/>
              </a:rPr>
              <a:t>Teste </a:t>
            </a:r>
            <a:r>
              <a:rPr sz="1400" b="1" i="0" dirty="0">
                <a:solidFill>
                  <a:srgbClr val="F39C12"/>
                </a:solidFill>
                <a:latin typeface="Calibri"/>
              </a:rPr>
              <a:t>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>
                <a:solidFill>
                  <a:srgbClr val="0B1F3A"/>
                </a:solidFill>
                <a:latin typeface="Calibri"/>
              </a:rPr>
              <a:t>Vérité terrain vs </a:t>
            </a:r>
            <a:r>
              <a:rPr sz="2800" b="1" i="0" dirty="0" err="1">
                <a:solidFill>
                  <a:srgbClr val="0B1F3A"/>
                </a:solidFill>
                <a:latin typeface="Calibri"/>
              </a:rPr>
              <a:t>Prédiction</a:t>
            </a:r>
            <a:r>
              <a:rPr sz="2800" b="1" i="0" dirty="0">
                <a:solidFill>
                  <a:srgbClr val="0B1F3A"/>
                </a:solidFill>
                <a:latin typeface="Calibri"/>
              </a:rPr>
              <a:t> 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20</a:t>
            </a: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E4DE28D-118D-3C14-89F3-1A66E7A3DC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673749"/>
              </p:ext>
            </p:extLst>
          </p:nvPr>
        </p:nvGraphicFramePr>
        <p:xfrm>
          <a:off x="2351314" y="1504822"/>
          <a:ext cx="5915608" cy="434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929902">
                  <a:extLst>
                    <a:ext uri="{9D8B030D-6E8A-4147-A177-3AD203B41FA5}">
                      <a16:colId xmlns:a16="http://schemas.microsoft.com/office/drawing/2014/main" val="3649074571"/>
                    </a:ext>
                  </a:extLst>
                </a:gridCol>
                <a:gridCol w="2985706">
                  <a:extLst>
                    <a:ext uri="{9D8B030D-6E8A-4147-A177-3AD203B41FA5}">
                      <a16:colId xmlns:a16="http://schemas.microsoft.com/office/drawing/2014/main" val="694976192"/>
                    </a:ext>
                  </a:extLst>
                </a:gridCol>
              </a:tblGrid>
              <a:tr h="201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Caractéristique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Description</a:t>
                      </a:r>
                      <a:endParaRPr lang="fr-FR" sz="1400"/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878042096"/>
                  </a:ext>
                </a:extLst>
              </a:tr>
              <a:tr h="201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Nom du </a:t>
                      </a:r>
                      <a:r>
                        <a:rPr lang="fr-FR" sz="1400" b="1" dirty="0" err="1"/>
                        <a:t>dataset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CIC-IDS2017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399995157"/>
                  </a:ext>
                </a:extLst>
              </a:tr>
              <a:tr h="201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Année de publication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2017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240851428"/>
                  </a:ext>
                </a:extLst>
              </a:tr>
              <a:tr h="3520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Type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Jeu de données de trafic réseau (PCAP et </a:t>
                      </a:r>
                      <a:r>
                        <a:rPr lang="fr-FR" sz="1400" dirty="0" err="1"/>
                        <a:t>NetFlow</a:t>
                      </a:r>
                      <a:r>
                        <a:rPr lang="fr-FR" sz="1400" dirty="0"/>
                        <a:t>)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3594192881"/>
                  </a:ext>
                </a:extLst>
              </a:tr>
              <a:tr h="6537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Objectif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Fournir un trafic réseau réaliste contenant des activités normales et malveillantes pour l'entraînement et l'évaluation des systèmes IDS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1399633933"/>
                  </a:ext>
                </a:extLst>
              </a:tr>
              <a:tr h="201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Nombre total de flux</a:t>
                      </a:r>
                      <a:endParaRPr lang="fr-FR" sz="140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≈ 2,83 millions de flux réseau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1885487696"/>
                  </a:ext>
                </a:extLst>
              </a:tr>
              <a:tr h="201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Nombre de caractéristiques (features)</a:t>
                      </a:r>
                      <a:endParaRPr lang="fr-FR" sz="140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79 colonnes (78 caractéristiques + 1 label)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1792712381"/>
                  </a:ext>
                </a:extLst>
              </a:tr>
              <a:tr h="3520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Nombre de classes</a:t>
                      </a:r>
                      <a:endParaRPr lang="fr-FR" sz="140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15 (1 classe normale + 14 types d'attaques)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3472552458"/>
                  </a:ext>
                </a:extLst>
              </a:tr>
              <a:tr h="2011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Durée de la capture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5 jours (du 3 au 7 juillet 2017)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2124175356"/>
                  </a:ext>
                </a:extLst>
              </a:tr>
              <a:tr h="502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Environnement</a:t>
                      </a:r>
                      <a:endParaRPr lang="fr-FR" sz="1400" dirty="0"/>
                    </a:p>
                  </a:txBody>
                  <a:tcPr marL="50288" marR="50288" marT="25144" marB="2514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Réseau d'entreprise simulant un environnement réel avec utilisateurs, serveurs et attaquants</a:t>
                      </a:r>
                    </a:p>
                  </a:txBody>
                  <a:tcPr marL="50288" marR="50288" marT="25144" marB="25144" anchor="ctr"/>
                </a:tc>
                <a:extLst>
                  <a:ext uri="{0D108BD9-81ED-4DB2-BD59-A6C34878D82A}">
                    <a16:rowId xmlns:a16="http://schemas.microsoft.com/office/drawing/2014/main" val="387954116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B9F28-3B6F-ACA4-F8D3-54D7F6E5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C86582-757E-0FD7-2904-096AE373A4D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E21E0-4753-BD18-A144-7C72C6B9CDF6}"/>
              </a:ext>
            </a:extLst>
          </p:cNvPr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RANDOM FOREST — RÉSULTATS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0574F-2CA7-58FC-9FDE-5896609F4D91}"/>
              </a:ext>
            </a:extLst>
          </p:cNvPr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Vérité terrain vs Prédiction — répartition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A9335921-7607-4256-3ECF-6DCB85069990}"/>
              </a:ext>
            </a:extLst>
          </p:cNvPr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verite_vs_prediction.png">
            <a:extLst>
              <a:ext uri="{FF2B5EF4-FFF2-40B4-BE49-F238E27FC236}">
                <a16:creationId xmlns:a16="http://schemas.microsoft.com/office/drawing/2014/main" id="{C1A539FE-0CD2-4231-F808-40C65E227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505" y="1554480"/>
            <a:ext cx="8874684" cy="42519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4655E0-6416-17A8-4A71-89DD01330C49}"/>
              </a:ext>
            </a:extLst>
          </p:cNvPr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Les proportions prédites par le modèle collent quasi exactement à la vérité terrain sur les 5 catégories.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F9045F-A612-D6D1-7D1A-EB2B282803D6}"/>
              </a:ext>
            </a:extLst>
          </p:cNvPr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419698-D322-FF90-B209-29BA2E004A08}"/>
              </a:ext>
            </a:extLst>
          </p:cNvPr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737364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RANDOM FOREST — 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Vérité terrain vs Prédiction — comptage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verite_vs_prediction_bar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003" y="1554480"/>
            <a:ext cx="8585688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Comparaison chiffrée directe par catégorie.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Comparaison des deux modèles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Métrique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Isolation Forest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Normal vs Attaque (binaire)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Type d'attaque (5 classes)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Apprentissage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Non-supervisé (trafic normal)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Supervisé (labels d'attaque)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26 (NetFlow enrichi)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18 (NetFlow générique)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79,9%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98,9%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68,1%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99,0% (pondérée)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77,8%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98,9% (pondérée)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72,6%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98,9% (pondérée)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3D4D"/>
                          </a:solidFill>
                          <a:latin typeface="Calibri"/>
                        </a:rPr>
                        <a:t>Point fort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Anomalies volumétriques inconnues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333D4D"/>
                          </a:solidFill>
                          <a:latin typeface="Calibri"/>
                        </a:rPr>
                        <a:t>Attaques discrètes multi-flux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39C12"/>
                </a:solidFill>
                <a:latin typeface="Calibri"/>
              </a:rPr>
              <a:t>LIMITES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1F3A"/>
                </a:solidFill>
                <a:latin typeface="Calibri"/>
              </a:rPr>
              <a:t>Limites actuelles et pistes d'amélioration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1672" cy="0"/>
          </a:xfrm>
          <a:prstGeom prst="line">
            <a:avLst/>
          </a:prstGeom>
          <a:ln w="12700">
            <a:solidFill>
              <a:srgbClr val="E3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73736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Dépendance au format NetFlow : un test sur un fichier CICFlowMeter brut (schéma différent) a montré une forte dégradation du taux de faux positifs de l'Isolation Forest — nécessite une conversion NetFlow propre en amont.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L'Isolation Forest reste faible sur les attaques 'multi-flux' par nature (scan lent, brute-force distribué) — compensé par le Random Forest, mais uniquement une fois l'anomalie déjà détectée.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Un ré-entraînement à plus grande échelle sur l'ensemble CICIDS2017 complet (8 jours de capture) est en cours pour valider la généralisation du pipeline.</a:t>
            </a:r>
          </a:p>
          <a:p>
            <a:pPr>
              <a:spcAft>
                <a:spcPts val="2000"/>
              </a:spcAft>
            </a:pPr>
            <a:r>
              <a:rPr sz="1700">
                <a:solidFill>
                  <a:srgbClr val="333D4D"/>
                </a:solidFill>
                <a:latin typeface="Calibri"/>
              </a:rPr>
              <a:t>•  Prochaine étape : intégration temps réel dans la stack ELK (ingestion NetFlow → scoring → alerte SOC).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5B1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9C12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Un pipeline de détection à deux étages, complémentaire et évaluable de bout en 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9D3DE"/>
                </a:solidFill>
                <a:latin typeface="Calibri"/>
              </a:rPr>
              <a:t>•  Isolation Forest : filet de sécurité généraliste (AUC 85,2%) sur l'inconnu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9D3DE"/>
                </a:solidFill>
                <a:latin typeface="Calibri"/>
              </a:rPr>
              <a:t>•  Random Forest : catégorisation fine et fiable (F1 98,9%) une fois l'attaque identifiée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3DE"/>
                </a:solidFill>
                <a:latin typeface="Calibri"/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PFE IT6 — SOC Intelligent basé sur ELK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7A8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1379</Words>
  <Application>Microsoft Office PowerPoint</Application>
  <PresentationFormat>Grand écran</PresentationFormat>
  <Paragraphs>208</Paragraphs>
  <Slides>24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Omar lkhadir</cp:lastModifiedBy>
  <cp:revision>3</cp:revision>
  <dcterms:created xsi:type="dcterms:W3CDTF">2013-01-27T09:14:16Z</dcterms:created>
  <dcterms:modified xsi:type="dcterms:W3CDTF">2026-08-05T07:18:15Z</dcterms:modified>
  <cp:category/>
</cp:coreProperties>
</file>