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37160" cy="146304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39C12"/>
                </a:solidFill>
                <a:latin typeface="Calibri"/>
              </a:rPr>
              <a:t>PFE IT6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SOC Intelligent basé sur ELK +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204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C9D3DE"/>
                </a:solidFill>
                <a:latin typeface="Calibri"/>
              </a:rPr>
              <a:t>D'un modèle mono-format à une architecture généraliste multi-source,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C9D3DE"/>
                </a:solidFill>
                <a:latin typeface="Calibri"/>
              </a:rPr>
              <a:t>validée sur données réelles hors-échantillon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7A8"/>
                </a:solidFill>
                <a:latin typeface="Calibri"/>
              </a:rPr>
              <a:t>Projet de Fin d'Études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A8F"/>
                </a:solidFill>
                <a:latin typeface="Calibri"/>
              </a:rPr>
              <a:t>PFE IT6 — SOC Intelligent basé sur ELK +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A8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39C12"/>
                </a:solidFill>
                <a:latin typeface="Calibri"/>
              </a:rPr>
              <a:t>SOMMAIRE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B1F3A"/>
                </a:solidFill>
                <a:latin typeface="Calibri"/>
              </a:rPr>
              <a:t>Plan de la présentation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12700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>
                <a:solidFill>
                  <a:srgbClr val="333D4D"/>
                </a:solidFill>
                <a:latin typeface="Calibri"/>
              </a:rPr>
              <a:t>•  Contexte, architecture et le problème découvert (généralisation cross-format)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333D4D"/>
                </a:solidFill>
                <a:latin typeface="Calibri"/>
              </a:rPr>
              <a:t>•  Recherche : formats de flux standards &amp; schéma canonique à 2 paliers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333D4D"/>
                </a:solidFill>
                <a:latin typeface="Calibri"/>
              </a:rPr>
              <a:t>•  Architecture adaptateurs (extensibilité) et pattern de déploiement ELK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333D4D"/>
                </a:solidFill>
                <a:latin typeface="Calibri"/>
              </a:rPr>
              <a:t>•  Isolation Forest — de l'échec du modèle unique au modèle dédié par source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333D4D"/>
                </a:solidFill>
                <a:latin typeface="Calibri"/>
              </a:rPr>
              <a:t>•  Random Forest — un modèle partagé, robuste par nature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333D4D"/>
                </a:solidFill>
                <a:latin typeface="Calibri"/>
              </a:rPr>
              <a:t>•  Structure finale du projet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333D4D"/>
                </a:solidFill>
                <a:latin typeface="Calibri"/>
              </a:rPr>
              <a:t>•  Validation terrain : 4 tests sur données réelles jamais vues à l'entraînement</a:t>
            </a:r>
          </a:p>
          <a:p>
            <a:pPr>
              <a:spcAft>
                <a:spcPts val="1600"/>
              </a:spcAft>
            </a:pPr>
            <a:r>
              <a:rPr sz="1800">
                <a:solidFill>
                  <a:srgbClr val="333D4D"/>
                </a:solidFill>
                <a:latin typeface="Calibri"/>
              </a:rPr>
              <a:t>•  Enseignements, limites &amp;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PFE IT6 — SOC Intelligent basé sur ELK +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39C12"/>
                </a:solidFill>
                <a:latin typeface="Calibri"/>
              </a:rPr>
              <a:t>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B1F3A"/>
                </a:solidFill>
                <a:latin typeface="Calibri"/>
              </a:rPr>
              <a:t>Problématique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12700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69164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700">
                <a:solidFill>
                  <a:srgbClr val="333D4D"/>
                </a:solidFill>
                <a:latin typeface="Calibri"/>
              </a:rPr>
              <a:t>•  Un SOC (Security Operations Center) doit détecter en continu des menaces dans un volume de trafic massif et hétérogène.</a:t>
            </a:r>
          </a:p>
          <a:p>
            <a:pPr>
              <a:spcAft>
                <a:spcPts val="1800"/>
              </a:spcAft>
            </a:pPr>
            <a:r>
              <a:rPr sz="1700">
                <a:solidFill>
                  <a:srgbClr val="333D4D"/>
                </a:solidFill>
                <a:latin typeface="Calibri"/>
              </a:rPr>
              <a:t>•  Objectif : intégrer un pipeline de Machine Learning à une stack ELK pour détecter et catégoriser automatiquement le trafic malveillant.</a:t>
            </a:r>
          </a:p>
          <a:p>
            <a:pPr>
              <a:spcAft>
                <a:spcPts val="1800"/>
              </a:spcAft>
            </a:pPr>
            <a:r>
              <a:rPr sz="1700">
                <a:solidFill>
                  <a:srgbClr val="333D4D"/>
                </a:solidFill>
                <a:latin typeface="Calibri"/>
              </a:rPr>
              <a:t>•  Deux besoins complémentaires : détecter qu'un flux est anormal (Isolation Forest), puis identifier de quel type d'attaque il s'agit parmi 5 catégories (Random Forest).</a:t>
            </a:r>
          </a:p>
          <a:p>
            <a:pPr>
              <a:spcAft>
                <a:spcPts val="1800"/>
              </a:spcAft>
            </a:pPr>
            <a:r>
              <a:rPr sz="1700">
                <a:solidFill>
                  <a:srgbClr val="333D4D"/>
                </a:solidFill>
                <a:latin typeface="Calibri"/>
              </a:rPr>
              <a:t>•  Exigence de production, précisée en cours de projet : le système doit rester opérationnel face à une infra réelle d'entreprise — routeurs, pare-feu, proxys, sondes IoT — donc plusieurs formats de flux, pas un seul.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PFE IT6 — SOC Intelligent basé sur ELK +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39C12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B1F3A"/>
                </a:solidFill>
                <a:latin typeface="Calibri"/>
              </a:rPr>
              <a:t>Deux modèles complémentaires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12700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691640"/>
            <a:ext cx="5120640" cy="393192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9050">
            <a:solidFill>
              <a:srgbClr val="3498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3498DB"/>
                </a:solidFill>
                <a:latin typeface="Calibri"/>
              </a:rPr>
              <a:t>1. Isolation Forest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50592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333D4D"/>
                </a:solidFill>
                <a:latin typeface="Calibri"/>
              </a:rPr>
              <a:t>Détection d'anomalies (non-supervisé)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26080"/>
            <a:ext cx="4480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350">
                <a:solidFill>
                  <a:srgbClr val="333D4D"/>
                </a:solidFill>
                <a:latin typeface="Calibri"/>
              </a:rPr>
              <a:t>•  Entraîné uniquement sur du trafic normal</a:t>
            </a:r>
          </a:p>
          <a:p>
            <a:pPr>
              <a:spcAft>
                <a:spcPts val="1300"/>
              </a:spcAft>
            </a:pPr>
            <a:r>
              <a:rPr sz="1350">
                <a:solidFill>
                  <a:srgbClr val="333D4D"/>
                </a:solidFill>
                <a:latin typeface="Calibri"/>
              </a:rPr>
              <a:t>•  Détecte les déviations : Normal vs Attaque</a:t>
            </a:r>
          </a:p>
          <a:p>
            <a:pPr>
              <a:spcAft>
                <a:spcPts val="1300"/>
              </a:spcAft>
            </a:pPr>
            <a:r>
              <a:rPr sz="1350">
                <a:solidFill>
                  <a:srgbClr val="333D4D"/>
                </a:solidFill>
                <a:latin typeface="Calibri"/>
              </a:rPr>
              <a:t>•  Première ligne de défense — doit fonctionner sur n'importe quelle source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91640"/>
            <a:ext cx="5120640" cy="393192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9050">
            <a:solidFill>
              <a:srgbClr val="9B5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96596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9B59B6"/>
                </a:solidFill>
                <a:latin typeface="Calibri"/>
              </a:rPr>
              <a:t>2. Random Forest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450592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333D4D"/>
                </a:solidFill>
                <a:latin typeface="Calibri"/>
              </a:rPr>
              <a:t>Catégorisation supervisée (5 classes)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926080"/>
            <a:ext cx="4480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350">
                <a:solidFill>
                  <a:srgbClr val="333D4D"/>
                </a:solidFill>
                <a:latin typeface="Calibri"/>
              </a:rPr>
              <a:t>•  Entraîné uniquement sur des flux d'attaque</a:t>
            </a:r>
          </a:p>
          <a:p>
            <a:pPr>
              <a:spcAft>
                <a:spcPts val="1300"/>
              </a:spcAft>
            </a:pPr>
            <a:r>
              <a:rPr sz="1350">
                <a:solidFill>
                  <a:srgbClr val="333D4D"/>
                </a:solidFill>
                <a:latin typeface="Calibri"/>
              </a:rPr>
              <a:t>•  Identifie : brute force, scan, intrusion réseau, activité suspecte, accès non autorisé</a:t>
            </a:r>
          </a:p>
          <a:p>
            <a:pPr>
              <a:spcAft>
                <a:spcPts val="1300"/>
              </a:spcAft>
            </a:pPr>
            <a:r>
              <a:rPr sz="1350">
                <a:solidFill>
                  <a:srgbClr val="333D4D"/>
                </a:solidFill>
                <a:latin typeface="Calibri"/>
              </a:rPr>
              <a:t>•  S'applique une fois l'anomalie déjà repérée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PFE IT6 — SOC Intelligent basé sur ELK + 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74C3C"/>
                </a:solidFill>
                <a:latin typeface="Calibri"/>
              </a:rPr>
              <a:t>LE PROBLÈME DÉCOUVERT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B1F3A"/>
                </a:solidFill>
                <a:latin typeface="Calibri"/>
              </a:rPr>
              <a:t>Un modèle mono-format ne généralise pas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12700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55448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333D4D"/>
                </a:solidFill>
                <a:latin typeface="Calibri"/>
              </a:rPr>
              <a:t>Version 1 : modèles entraînés uniquement sur BigFlow-NIDS-V2 (format NetFlow-v9). Testés en aveugle sur un fichier CICFlowMeter (CICIDS2017), jamais vu 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77440"/>
            <a:ext cx="3383280" cy="155448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3383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E74C3C"/>
                </a:solidFill>
                <a:latin typeface="Calibri"/>
              </a:rPr>
              <a:t>F1 : 41,2%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3383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333D4D"/>
                </a:solidFill>
                <a:latin typeface="Calibri"/>
              </a:rPr>
              <a:t>Isolation Forest</a:t>
            </a:r>
          </a:p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333D4D"/>
                </a:solidFill>
                <a:latin typeface="Calibri"/>
              </a:rPr>
              <a:t>(vs 72,6% en natif)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377440"/>
            <a:ext cx="3383280" cy="155448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514600"/>
            <a:ext cx="3383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E74C3C"/>
                </a:solidFill>
                <a:latin typeface="Calibri"/>
              </a:rPr>
              <a:t>FPR : 60,9%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154680"/>
            <a:ext cx="3383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333D4D"/>
                </a:solidFill>
                <a:latin typeface="Calibri"/>
              </a:rPr>
              <a:t>Faux positifs</a:t>
            </a:r>
          </a:p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333D4D"/>
                </a:solidFill>
                <a:latin typeface="Calibri"/>
              </a:rPr>
              <a:t>sur trafic normal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377440"/>
            <a:ext cx="3383280" cy="155448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2514600"/>
            <a:ext cx="3383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39C12"/>
                </a:solidFill>
                <a:latin typeface="Calibri"/>
              </a:rPr>
              <a:t>F1 : 75,6%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154680"/>
            <a:ext cx="3383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333D4D"/>
                </a:solidFill>
                <a:latin typeface="Calibri"/>
              </a:rPr>
              <a:t>Random Forest</a:t>
            </a:r>
          </a:p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333D4D"/>
                </a:solidFill>
                <a:latin typeface="Calibri"/>
              </a:rPr>
              <a:t>(vs 98,9% en natif)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43400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50">
                <a:solidFill>
                  <a:srgbClr val="333D4D"/>
                </a:solidFill>
                <a:latin typeface="Calibri"/>
              </a:rPr>
              <a:t>•  Diagnostic : les modèles utilisaient des features spécifiques à l'outil NetFlow (TTL, L7_PROTO, TCP_FLAGS en bitmask...) — absentes du format CICFlowMeter, imputées à des constantes fabriquées.</a:t>
            </a:r>
          </a:p>
          <a:p>
            <a:pPr>
              <a:spcAft>
                <a:spcPts val="1400"/>
              </a:spcAft>
            </a:pPr>
            <a:r>
              <a:rPr sz="1550">
                <a:solidFill>
                  <a:srgbClr val="333D4D"/>
                </a:solidFill>
                <a:latin typeface="Calibri"/>
              </a:rPr>
              <a:t>•  Conclusion : il fallait un socle de features réellement tool-agnostic, et un entraînement multi-source plutôt qu'espérer qu'un modèle mono-source généralise seul.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PFE IT6 — SOC Intelligent basé sur ELK + 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39C12"/>
                </a:solidFill>
                <a:latin typeface="Calibri"/>
              </a:rPr>
              <a:t>MÉTHODE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Schéma canonique à 2 paliers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9784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C9D3DE"/>
                </a:solidFill>
                <a:latin typeface="Calibri"/>
              </a:rPr>
              <a:t>Recherche documentaire sur les formats de flux standards, pour construire un socle de features qui tient au-delà des formats déjà testés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A8F"/>
                </a:solidFill>
                <a:latin typeface="Calibri"/>
              </a:rPr>
              <a:t>PFE IT6 — SOC Intelligent basé sur ELK +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A8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39C12"/>
                </a:solidFill>
                <a:latin typeface="Calibri"/>
              </a:rPr>
              <a:t>RECHERCHE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B1F3A"/>
                </a:solidFill>
                <a:latin typeface="Calibri"/>
              </a:rPr>
              <a:t>5 formats de flux standards étudiés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12700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39C12"/>
                </a:solidFill>
                <a:latin typeface="Calibri"/>
              </a:rPr>
              <a:t>RECHERCHE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B1F3A"/>
                </a:solidFill>
                <a:latin typeface="Calibri"/>
              </a:rPr>
              <a:t>5 formats de flux standards étudiés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12700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029200"/>
                <a:gridCol w="3657600"/>
              </a:tblGrid>
              <a:tr h="701040">
                <a:tc>
                  <a:txBody>
                    <a:bodyPr/>
                    <a:lstStyle/>
                    <a:p>
                      <a:pPr algn="l"/>
                      <a:r>
                        <a:rPr b="1" sz="1350">
                          <a:solidFill>
                            <a:srgbClr val="FFFFFF"/>
                          </a:solidFill>
                        </a:rPr>
                        <a:t>Format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50">
                          <a:solidFill>
                            <a:srgbClr val="FFFFFF"/>
                          </a:solidFill>
                        </a:rPr>
                        <a:t>Champs clés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50">
                          <a:solidFill>
                            <a:srgbClr val="FFFFFF"/>
                          </a:solidFill>
                        </a:rPr>
                        <a:t>Statut dans ce projet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33D4D"/>
                          </a:solidFill>
                        </a:rPr>
                        <a:t>NetFlow-v9 / IPFIX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IN/OUT_BYTES, TTL, L7_PROTO, TCP_FLAGS (bitmask)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Base d'entraînement (BigFlow-NIDS-V2)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33D4D"/>
                          </a:solidFill>
                        </a:rPr>
                        <a:t>CICFlowMeter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Total Fwd/Bwd Packets, Flow Duration, flags en compteurs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Entraîné + validé (CICIDS2017 et CICIDS2018)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33D4D"/>
                          </a:solidFill>
                        </a:rPr>
                        <a:t>Zeek conn.log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orig/resp_ip_bytes, history (flags via lettres)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Entraîné + validé (IoT-23 réel)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33D4D"/>
                          </a:solidFill>
                        </a:rPr>
                        <a:t>Suricata EVE JSON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bytes/pkts_toserver/toclient, flags booléens natifs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Adaptateur prêt, testé (pas de données réelles)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33D4D"/>
                          </a:solidFill>
                        </a:rPr>
                        <a:t>AWS VPC Flow Logs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srcport/dstport, packets, bytes — UNIDIRECTIONNEL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Documenté comme cas futur (corrélation biflow requise)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6B7682"/>
                </a:solidFill>
                <a:latin typeface="Calibri"/>
              </a:rPr>
              <a:t>Conclusion : le palier 1 (ports/protocole/octets/paquets/durée/flags booléens) est atteignable sur tous les formats biflow standards sans fabrication de valeur.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PFE IT6 — SOC Intelligent basé sur ELK +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39C12"/>
                </a:solidFill>
                <a:latin typeface="Calibri"/>
              </a:rPr>
              <a:t>SCHÉMA CANONIQUE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B1F3A"/>
                </a:solidFill>
                <a:latin typeface="Calibri"/>
              </a:rPr>
              <a:t>Un socle de features à deux paliers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12700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600200"/>
            <a:ext cx="5120640" cy="41148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9050">
            <a:solidFill>
              <a:srgbClr val="3498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498DB"/>
                </a:solidFill>
                <a:latin typeface="Calibri"/>
              </a:rPr>
              <a:t>Palier 1 — cœur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333D4D"/>
                </a:solidFill>
                <a:latin typeface="Calibri"/>
              </a:rPr>
              <a:t>17 features, garanties par TOUT format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88920"/>
            <a:ext cx="4480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00">
                <a:solidFill>
                  <a:srgbClr val="333D4D"/>
                </a:solidFill>
                <a:latin typeface="Calibri"/>
              </a:rPr>
              <a:t>•  Ports (bucketisés), protocole, octets/paquets in-out, durée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33D4D"/>
                </a:solidFill>
                <a:latin typeface="Calibri"/>
              </a:rPr>
              <a:t>•  6 flags TCP booléens (dérivés indépendamment par adaptateur)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33D4D"/>
                </a:solidFill>
                <a:latin typeface="Calibri"/>
              </a:rPr>
              <a:t>•  4 agrégats dérivés (ratio, totaux, durée)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33D4D"/>
                </a:solidFill>
                <a:latin typeface="Calibri"/>
              </a:rPr>
              <a:t>•  Utilisé par Isolation Forest ET Random Forest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33D4D"/>
                </a:solidFill>
                <a:latin typeface="Calibri"/>
              </a:rPr>
              <a:t>•  Jamais de NaN, jamais de valeur fabriquée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00200"/>
            <a:ext cx="5120640" cy="41148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9050">
            <a:solidFill>
              <a:srgbClr val="9B5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874519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9B59B6"/>
                </a:solidFill>
                <a:latin typeface="Calibri"/>
              </a:rPr>
              <a:t>Palier 2 — étendu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33172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333D4D"/>
                </a:solidFill>
                <a:latin typeface="Calibri"/>
              </a:rPr>
              <a:t>5 features, quand la source les fournit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88920"/>
            <a:ext cx="4480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00">
                <a:solidFill>
                  <a:srgbClr val="333D4D"/>
                </a:solidFill>
                <a:latin typeface="Calibri"/>
              </a:rPr>
              <a:t>•  Taille de paquet min/max, IAT (inter-arrival time) par direction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33D4D"/>
                </a:solidFill>
                <a:latin typeface="Calibri"/>
              </a:rPr>
              <a:t>•  Présent en NetFlow et CICFlowMeter, absent de Zeek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33D4D"/>
                </a:solidFill>
                <a:latin typeface="Calibri"/>
              </a:rPr>
              <a:t>•  Utilisé UNIQUEMENT par Random Forest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33D4D"/>
                </a:solidFill>
                <a:latin typeface="Calibri"/>
              </a:rPr>
              <a:t>•  HistGradientBoostingClassifier : tolère nativement les NaN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333D4D"/>
                </a:solidFill>
                <a:latin typeface="Calibri"/>
              </a:rPr>
              <a:t>•  Isolation Forest reste restreint au palier 1 (jamais de NaN à gérer)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PFE IT6 — SOC Intelligent basé sur ELK + 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39C12"/>
                </a:solidFill>
                <a:latin typeface="Calibri"/>
              </a:rPr>
              <a:t>EXTENSIBILITÉ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B1F3A"/>
                </a:solidFill>
                <a:latin typeface="Calibri"/>
              </a:rPr>
              <a:t>Pattern adaptateur : le modèle ne voit jamais un format brut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12700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60020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333D4D"/>
                </a:solidFill>
                <a:latin typeface="Calibri"/>
              </a:rPr>
              <a:t>commun/adapters/ — chaque format a son adaptateur, qui traduit vers le schéma canonique 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194560"/>
          <a:ext cx="103327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560320"/>
                <a:gridCol w="4480560"/>
              </a:tblGrid>
              <a:tr h="475488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Adaptateur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Statut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Validé sur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333D4D"/>
                          </a:solidFill>
                        </a:rPr>
                        <a:t>netflow_adapter.py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333D4D"/>
                          </a:solidFill>
                        </a:rPr>
                        <a:t>Entraîné + validé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333D4D"/>
                          </a:solidFill>
                        </a:rPr>
                        <a:t>BigFlow-NIDS-V2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333D4D"/>
                          </a:solidFill>
                        </a:rPr>
                        <a:t>cicflowmeter_adapter.py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333D4D"/>
                          </a:solidFill>
                        </a:rPr>
                        <a:t>Entraîné + validé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333D4D"/>
                          </a:solidFill>
                        </a:rPr>
                        <a:t>CICIDS2017 (8 jours) + CICIDS2018 (4 jours, colonnes renommées)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333D4D"/>
                          </a:solidFill>
                        </a:rPr>
                        <a:t>zeek_adapter.py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333D4D"/>
                          </a:solidFill>
                        </a:rPr>
                        <a:t>Entraîné + validé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333D4D"/>
                          </a:solidFill>
                        </a:rPr>
                        <a:t>IoT-23 (données réelles, plusieurs captures)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333D4D"/>
                          </a:solidFill>
                        </a:rPr>
                        <a:t>suricata_adapter.py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333D4D"/>
                          </a:solidFill>
                        </a:rPr>
                        <a:t>Testé (synthétique), prêt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333D4D"/>
                          </a:solidFill>
                        </a:rPr>
                        <a:t>Aucune donnée réelle disponible pour l'instant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489204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50">
                <a:solidFill>
                  <a:srgbClr val="333D4D"/>
                </a:solidFill>
                <a:latin typeface="Calibri"/>
              </a:rPr>
              <a:t>•  Ajouter un 5e format = écrire un nouvel adaptateur (~1 fichier), jamais retoucher le modèle.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333D4D"/>
                </a:solidFill>
                <a:latin typeface="Calibri"/>
              </a:rPr>
              <a:t>•  commun/adapters/README.md documente la procédure pour le prochain format (ex. VPC Flow Logs).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PFE IT6 — SOC Intelligent basé sur ELK + 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39C12"/>
                </a:solidFill>
                <a:latin typeface="Calibri"/>
              </a:rPr>
              <a:t>DÉPLOIEMENT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B1F3A"/>
                </a:solidFill>
                <a:latin typeface="Calibri"/>
              </a:rPr>
              <a:t>Intégration ELK : routage par source, jamais de perte silencieuse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12700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645920"/>
            <a:ext cx="10241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550">
                <a:solidFill>
                  <a:srgbClr val="333D4D"/>
                </a:solidFill>
                <a:latin typeface="Calibri"/>
              </a:rPr>
              <a:t>•  Filebeat étiquette déjà chaque événement (event.module = netflow / zeek / ...) — la détection de source ne devine rien, elle lit un champ fourni par construction.</a:t>
            </a:r>
          </a:p>
          <a:p>
            <a:pPr>
              <a:spcAft>
                <a:spcPts val="1600"/>
              </a:spcAft>
            </a:pPr>
            <a:r>
              <a:rPr sz="1550">
                <a:solidFill>
                  <a:srgbClr val="333D4D"/>
                </a:solidFill>
                <a:latin typeface="Calibri"/>
              </a:rPr>
              <a:t>•  Logstash appelle un point d'entrée d'inférence unique, qui route en interne vers le bon adaptateur + modèle Isolation Forest, puis vers le Random Forest partagé si anomalie.</a:t>
            </a:r>
          </a:p>
          <a:p>
            <a:pPr>
              <a:spcAft>
                <a:spcPts val="1600"/>
              </a:spcAft>
            </a:pPr>
            <a:r>
              <a:rPr sz="1550">
                <a:solidFill>
                  <a:srgbClr val="333D4D"/>
                </a:solidFill>
                <a:latin typeface="Calibri"/>
              </a:rPr>
              <a:t>•  Format reconnu mais colonnes du palier 1 partiellement manquantes : imputation par la médiane propre à CETTE source (jamais une valeur d'une autre source), résultat marqué ml_status="scoring_dégradé".</a:t>
            </a:r>
          </a:p>
          <a:p>
            <a:pPr>
              <a:spcAft>
                <a:spcPts val="1600"/>
              </a:spcAft>
            </a:pPr>
            <a:r>
              <a:rPr sz="1550">
                <a:solidFill>
                  <a:srgbClr val="333D4D"/>
                </a:solidFill>
                <a:latin typeface="Calibri"/>
              </a:rPr>
              <a:t>•  Format non reconnu du tout : aucun scoring forcé — l'événement est indexé tel quel dans Elasticsearch avec ml_status="format_non_reconnu", visible et comptabilisable dans Kibana, jamais perdu silencieusement.</a:t>
            </a:r>
          </a:p>
          <a:p>
            <a:pPr>
              <a:spcAft>
                <a:spcPts val="1600"/>
              </a:spcAft>
            </a:pPr>
            <a:r>
              <a:rPr sz="1550">
                <a:solidFill>
                  <a:srgbClr val="333D4D"/>
                </a:solidFill>
                <a:latin typeface="Calibri"/>
              </a:rPr>
              <a:t>•  Un volume croissant de "format_non_reconnu" est un signal clair pour l'équipe SOC : il est temps d'écrire un nouvel adaptateur.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PFE IT6 — SOC Intelligent basé sur ELK +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39C12"/>
                </a:solidFill>
                <a:latin typeface="Calibri"/>
              </a:rPr>
              <a:t>PARTIE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Isolation Forest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9784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C9D3DE"/>
                </a:solidFill>
                <a:latin typeface="Calibri"/>
              </a:rPr>
              <a:t>De l'échec du modèle unique multi-source au modèle dédié par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A8F"/>
                </a:solidFill>
                <a:latin typeface="Calibri"/>
              </a:rPr>
              <a:t>PFE IT6 — SOC Intelligent basé sur ELK +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A8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39C12"/>
                </a:solidFill>
                <a:latin typeface="Calibri"/>
              </a:rPr>
              <a:t>ISOLATION FOREST — ÉVOLUTION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B1F3A"/>
                </a:solidFill>
                <a:latin typeface="Calibri"/>
              </a:rPr>
              <a:t>4 itérations, un diagnostic à chaque étape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12700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566160"/>
                <a:gridCol w="4206240"/>
              </a:tblGrid>
              <a:tr h="841248">
                <a:tc>
                  <a:txBody>
                    <a:bodyPr/>
                    <a:lstStyle/>
                    <a:p>
                      <a:pPr algn="l"/>
                      <a:r>
                        <a:rPr b="1" sz="1350">
                          <a:solidFill>
                            <a:srgbClr val="FFFFFF"/>
                          </a:solidFill>
                        </a:rPr>
                        <a:t>Version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50">
                          <a:solidFill>
                            <a:srgbClr val="FFFFFF"/>
                          </a:solidFill>
                        </a:rPr>
                        <a:t>NetFlow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50">
                          <a:solidFill>
                            <a:srgbClr val="FFFFFF"/>
                          </a:solidFill>
                        </a:rPr>
                        <a:t>CICFlowMeter (+ Zeek pour v3/v4)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33D4D"/>
                          </a:solidFill>
                        </a:rPr>
                        <a:t>v1 — NetFlow seul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F1 72,6% / AUC 85,2% (natif)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F1 41,2% / AUC 70,1% / FPR 60,9% (zero-shot CICFlowMeter)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33D4D"/>
                          </a:solidFill>
                        </a:rPr>
                        <a:t>v2 — multi-source, 1 modèle, seuil global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F1 62,3% / AUC 79,6% (FPR 76,8%)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F1 59,2% / AUC 83,3%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33D4D"/>
                          </a:solidFill>
                        </a:rPr>
                        <a:t>v3 — multi-source, 1 modèle, seuil par source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F1 69,1% / AUC 79,0%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F1 59,3% / AUC 82,7% · Zeek : AUC 51,3% (quasi aléatoire)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33D4D"/>
                          </a:solidFill>
                        </a:rPr>
                        <a:t>v4 — 1 modèle DÉDIÉ par source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F1 74,6% / AUC 84,1%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F1 64,9% / AUC 84,5% · Zeek : F1 99,8% / AUC 93,1%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6B7682"/>
                </a:solidFill>
                <a:latin typeface="Calibri"/>
              </a:rPr>
              <a:t>v4 gagne sur toutes les sources — en particulier Zeek, où isoler la source a permis de retrouver un vrai signal noyé jusque-là (3 629 exemples normaux dilués dans 1,9M).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PFE IT6 — SOC Intelligent basé sur ELK +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39C12"/>
                </a:solidFill>
                <a:latin typeface="Calibri"/>
              </a:rPr>
              <a:t>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B1F3A"/>
                </a:solidFill>
                <a:latin typeface="Calibri"/>
              </a:rPr>
              <a:t>Pourquoi un seul modèle multi-source échoue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12700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64592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650">
                <a:solidFill>
                  <a:srgbClr val="333D4D"/>
                </a:solidFill>
                <a:latin typeface="Calibri"/>
              </a:rPr>
              <a:t>•  Isolation Forest apprend sa notion de "normal" à partir du volume relatif de chaque source dans le pool d'entraînement.</a:t>
            </a:r>
          </a:p>
          <a:p>
            <a:pPr>
              <a:spcAft>
                <a:spcPts val="1800"/>
              </a:spcAft>
            </a:pPr>
            <a:r>
              <a:rPr sz="1650">
                <a:solidFill>
                  <a:srgbClr val="333D4D"/>
                </a:solidFill>
                <a:latin typeface="Calibri"/>
              </a:rPr>
              <a:t>•  Répartition du pool "normal" (v2/v3) : CICFlowMeter ~72%, NetFlow ~24%, Zeek &lt;1% — le modèle apprend surtout le normal CICFlowMeter.</a:t>
            </a:r>
          </a:p>
          <a:p>
            <a:pPr>
              <a:spcAft>
                <a:spcPts val="1800"/>
              </a:spcAft>
            </a:pPr>
            <a:r>
              <a:rPr sz="1650">
                <a:solidFill>
                  <a:srgbClr val="333D4D"/>
                </a:solidFill>
                <a:latin typeface="Calibri"/>
              </a:rPr>
              <a:t>•  Conséquence : le vrai trafic normal NetFlow semble "anormal" au modèle (faux positifs), et Zeek est quasiment invisible (AUC ~51%, autant dire aléatoire).</a:t>
            </a:r>
          </a:p>
          <a:p>
            <a:pPr>
              <a:spcAft>
                <a:spcPts val="1800"/>
              </a:spcAft>
            </a:pPr>
            <a:r>
              <a:rPr sz="1650">
                <a:solidFill>
                  <a:srgbClr val="333D4D"/>
                </a:solidFill>
                <a:latin typeface="Calibri"/>
              </a:rPr>
              <a:t>•  Solution (v4) : un IsolationForest + StandardScaler + seuil INDÉPENDANT par source, chacun n'apprenant QUE sa propre distribution normale.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PFE IT6 — SOC Intelligent basé sur ELK +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39C12"/>
                </a:solidFill>
                <a:latin typeface="Calibri"/>
              </a:rPr>
              <a:t>ISOLATION FOREST — RÉSULTATS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B1F3A"/>
                </a:solidFill>
                <a:latin typeface="Calibri"/>
              </a:rPr>
              <a:t>Résultats finaux — Isolation Forest v4 par source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12700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comparais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7" y="1508760"/>
            <a:ext cx="11064240" cy="36633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281843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6B7682"/>
                </a:solidFill>
                <a:latin typeface="Calibri"/>
              </a:rPr>
              <a:t>Comparaison v3 (modèle unique) vs v4 (modèle dédié) — gain net sur les 3 sources, spectaculaire sur Zeek.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PFE IT6 — SOC Intelligent basé sur ELK +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39C12"/>
                </a:solidFill>
                <a:latin typeface="Calibri"/>
              </a:rPr>
              <a:t>ISOLATION FOREST — RÉSULTATS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B1F3A"/>
                </a:solidFill>
                <a:latin typeface="Calibri"/>
              </a:rPr>
              <a:t>Isolation Forest v4 — détail par source (test tenu à l'écart)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12700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737360"/>
                <a:gridCol w="1280160"/>
                <a:gridCol w="1280160"/>
                <a:gridCol w="1280160"/>
                <a:gridCol w="1280160"/>
                <a:gridCol w="1280160"/>
                <a:gridCol w="822960"/>
              </a:tblGrid>
              <a:tr h="1143000">
                <a:tc>
                  <a:txBody>
                    <a:bodyPr/>
                    <a:lstStyle/>
                    <a:p>
                      <a:pPr algn="l"/>
                      <a:r>
                        <a:rPr b="1" sz="1350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50">
                          <a:solidFill>
                            <a:srgbClr val="FFFFFF"/>
                          </a:solidFill>
                        </a:rPr>
                        <a:t>N normal (train)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50">
                          <a:solidFill>
                            <a:srgbClr val="FFFFFF"/>
                          </a:solidFill>
                        </a:rPr>
                        <a:t>Acc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50">
                          <a:solidFill>
                            <a:srgbClr val="FFFFFF"/>
                          </a:solidFill>
                        </a:rPr>
                        <a:t>Prec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50">
                          <a:solidFill>
                            <a:srgbClr val="FFFFFF"/>
                          </a:solidFill>
                        </a:rPr>
                        <a:t>Rec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50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50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50">
                          <a:solidFill>
                            <a:srgbClr val="FFFFFF"/>
                          </a:solidFill>
                        </a:rPr>
                        <a:t>FPR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33D4D"/>
                          </a:solidFill>
                        </a:rPr>
                        <a:t>NetFlow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459 168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83,1%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90,3%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63,6%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74,6%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84,1%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4,4%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33D4D"/>
                          </a:solidFill>
                        </a:rPr>
                        <a:t>CICFlowMeter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1 818 477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83,1%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55,0%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79,1%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64,9%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84,5%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15,9%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33D4D"/>
                          </a:solidFill>
                        </a:rPr>
                        <a:t>Zeek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3 629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99,6%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99,6%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100,0%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99,8%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93,1%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14,0%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PFE IT6 — SOC Intelligent basé sur ELK +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39C12"/>
                </a:solidFill>
                <a:latin typeface="Calibri"/>
              </a:rPr>
              <a:t>PARTIE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Random Forest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9784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C9D3DE"/>
                </a:solidFill>
                <a:latin typeface="Calibri"/>
              </a:rPr>
              <a:t>Un modèle partagé, robuste par nature grâce à des features plus génériques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A8F"/>
                </a:solidFill>
                <a:latin typeface="Calibri"/>
              </a:rPr>
              <a:t>PFE IT6 — SOC Intelligent basé sur ELK +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A8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39C12"/>
                </a:solidFill>
                <a:latin typeface="Calibri"/>
              </a:rPr>
              <a:t>RANDOM FOREST — RÉSULTATS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B1F3A"/>
                </a:solidFill>
                <a:latin typeface="Calibri"/>
              </a:rPr>
              <a:t>Résultats — Random Forest v3 (5 catégories, multi-source)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12700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evaluation_par_sou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490" y="1508760"/>
            <a:ext cx="7142715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870448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6B7682"/>
                </a:solidFill>
                <a:latin typeface="Calibri"/>
              </a:rPr>
              <a:t>Accuracy quasi identique sur les 3 sources (99,2 à 100%) — aucun modèle dédié nécessaire.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PFE IT6 — SOC Intelligent basé sur ELK +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39C12"/>
                </a:solidFill>
                <a:latin typeface="Calibri"/>
              </a:rPr>
              <a:t>RANDOM FOREST — RÉSULTATS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B1F3A"/>
                </a:solidFill>
                <a:latin typeface="Calibri"/>
              </a:rPr>
              <a:t>Vérité terrain vs Prédiction — Random Forest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12700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verite_vs_predi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003" y="1508760"/>
            <a:ext cx="8585688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870448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6B7682"/>
                </a:solidFill>
                <a:latin typeface="Calibri"/>
              </a:rPr>
              <a:t>Les proportions prédites collent quasiment à la vérité terrain sur les 5 catégories.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PFE IT6 — SOC Intelligent basé sur ELK +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39C12"/>
                </a:solidFill>
                <a:latin typeface="Calibri"/>
              </a:rPr>
              <a:t>RANDOM FOREST — RÉSULTATS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B1F3A"/>
                </a:solidFill>
                <a:latin typeface="Calibri"/>
              </a:rPr>
              <a:t>Matrice de confusion — Random Forest (5 catégories)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12700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eval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7" y="1508760"/>
            <a:ext cx="11064240" cy="41270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745551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6B7682"/>
                </a:solidFill>
                <a:latin typeface="Calibri"/>
              </a:rPr>
              <a:t>F1 pondéré 99,7% poolé. Seuil de confiance 0,7 : 99,8% des cas classifiés automatiquement.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PFE IT6 — SOC Intelligent basé sur ELK +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39C12"/>
                </a:solidFill>
                <a:latin typeface="Calibri"/>
              </a:rPr>
              <a:t>ORGANISATION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B1F3A"/>
                </a:solidFill>
                <a:latin typeface="Calibri"/>
              </a:rPr>
              <a:t>Structure finale du projet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12700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60020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333D4D"/>
                </a:solidFill>
                <a:latin typeface="Calibri"/>
              </a:rPr>
              <a:t>Toutes les anciennes versions (v1/v2/v3 pour IF) supprimées après validation — seule la meilleure version est conservée, proprement nommée 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94560"/>
            <a:ext cx="10332720" cy="3657600"/>
          </a:xfrm>
          <a:prstGeom prst="roundRect">
            <a:avLst>
              <a:gd name="adj" fmla="val 3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978408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E8EEF5"/>
                </a:solidFill>
                <a:latin typeface="Consolas"/>
              </a:rPr>
              <a:t>MD_4/</a:t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E8EEF5"/>
                </a:solidFill>
                <a:latin typeface="Consolas"/>
              </a:rPr>
              <a:t>├── commun/                  schéma canonique, adaptateurs (netflow, cicflowmeter,</a:t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E8EEF5"/>
                </a:solidFill>
                <a:latin typeface="Consolas"/>
              </a:rPr>
              <a:t>│                            zeek, suricata), mapping des 5 catégories</a:t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E8EEF5"/>
                </a:solidFill>
                <a:latin typeface="Consolas"/>
              </a:rPr>
              <a:t>├── isolation_forest/</a:t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E8EEF5"/>
                </a:solidFill>
                <a:latin typeface="Consolas"/>
              </a:rPr>
              <a:t>│   ├── scripts/entrainement.py</a:t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E8EEF5"/>
                </a:solidFill>
                <a:latin typeface="Consolas"/>
              </a:rPr>
              <a:t>│   ├── models/{netflow,cicflowmeter,zeek}/  (model, scaler, seuil)</a:t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E8EEF5"/>
                </a:solidFill>
                <a:latin typeface="Consolas"/>
              </a:rPr>
              <a:t>│   └── results/rapport.txt, comparaison_architecture.png</a:t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E8EEF5"/>
                </a:solidFill>
                <a:latin typeface="Consolas"/>
              </a:rPr>
              <a:t>└── random_forest/</a:t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E8EEF5"/>
                </a:solidFill>
                <a:latin typeface="Consolas"/>
              </a:rPr>
              <a:t>    ├── scripts/entrainement.py</a:t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E8EEF5"/>
                </a:solidFill>
                <a:latin typeface="Consolas"/>
              </a:rPr>
              <a:t>    ├── models/  (model, label_encoder, seuil_confiance, features)</a:t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E8EEF5"/>
                </a:solidFill>
                <a:latin typeface="Consolas"/>
              </a:rPr>
              <a:t>    └── results/rapport.txt, evaluation*.png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PFE IT6 — SOC Intelligent basé sur ELK + 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39C12"/>
                </a:solidFill>
                <a:latin typeface="Calibri"/>
              </a:rPr>
              <a:t>VALIDATION TERRAIN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4 tests sur données réelles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9784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C9D3DE"/>
                </a:solidFill>
                <a:latin typeface="Calibri"/>
              </a:rPr>
              <a:t>Fichiers publics jamais vus à l'entraînement, modèles déjà entraînés utilisés tels quels — aucun réentraînement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A8F"/>
                </a:solidFill>
                <a:latin typeface="Calibri"/>
              </a:rPr>
              <a:t>PFE IT6 — SOC Intelligent basé sur ELK +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A8F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39C12"/>
                </a:solidFill>
                <a:latin typeface="Calibri"/>
              </a:rPr>
              <a:t>TEST 2 — IoT-23 Capture-20-1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B1F3A"/>
                </a:solidFill>
                <a:latin typeface="Calibri"/>
              </a:rPr>
              <a:t>Même outil, appareil différent : le seuil ne transfère pas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12700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554480"/>
            <a:ext cx="10241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500">
                <a:solidFill>
                  <a:srgbClr val="333D4D"/>
                </a:solidFill>
                <a:latin typeface="Calibri"/>
              </a:rPr>
              <a:t>•  3 209 flux Zeek (99,5% normal / 0,5% attaque, C&amp;C-Torii) — capture IoT-23 jamais vue.</a:t>
            </a:r>
          </a:p>
          <a:p>
            <a:pPr>
              <a:spcAft>
                <a:spcPts val="1300"/>
              </a:spcAft>
            </a:pPr>
            <a:r>
              <a:rPr sz="1500">
                <a:solidFill>
                  <a:srgbClr val="333D4D"/>
                </a:solidFill>
                <a:latin typeface="Calibri"/>
              </a:rPr>
              <a:t>•  Isolation Forest (zeek) : Recall 100% (16/16 attaques détectées), mais FPR ~50% — AUC reste à 78% (vs 93,1% sur son propre test) : le modèle garde du pouvoir de classement, mais le seuil calibré sur un autre appareil ne transfère pas.</a:t>
            </a:r>
          </a:p>
          <a:p>
            <a:pPr>
              <a:spcAft>
                <a:spcPts val="1300"/>
              </a:spcAft>
            </a:pPr>
            <a:r>
              <a:rPr sz="1500">
                <a:solidFill>
                  <a:srgbClr val="333D4D"/>
                </a:solidFill>
                <a:latin typeface="Calibri"/>
              </a:rPr>
              <a:t>•  Random Forest : seulement 16 attaques réelles (1 seule catégorie) — trop peu pour conclure, mais 13/16 confondues avec port_scanning.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931920"/>
            <a:ext cx="3429000" cy="128016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069080"/>
            <a:ext cx="3429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3498DB"/>
                </a:solidFill>
                <a:latin typeface="Calibri"/>
              </a:rPr>
              <a:t>78,0%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3429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333D4D"/>
                </a:solidFill>
                <a:latin typeface="Calibri"/>
              </a:rPr>
              <a:t>AUC Isolation Forest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3931920"/>
            <a:ext cx="3429000" cy="128016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4069080"/>
            <a:ext cx="3429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E74C3C"/>
                </a:solidFill>
                <a:latin typeface="Calibri"/>
              </a:rPr>
              <a:t>~50%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4709160"/>
            <a:ext cx="3429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333D4D"/>
                </a:solidFill>
                <a:latin typeface="Calibri"/>
              </a:rPr>
              <a:t>Taux de faux positifs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3931920"/>
            <a:ext cx="3429000" cy="128016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4069080"/>
            <a:ext cx="3429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39C12"/>
                </a:solidFill>
                <a:latin typeface="Calibri"/>
              </a:rPr>
              <a:t>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709160"/>
            <a:ext cx="3429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333D4D"/>
                </a:solidFill>
                <a:latin typeface="Calibri"/>
              </a:rPr>
              <a:t>attaques réelles (1 catégorie)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PFE IT6 — SOC Intelligent basé sur ELK + 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39C12"/>
                </a:solidFill>
                <a:latin typeface="Calibri"/>
              </a:rPr>
              <a:t>TEST 3 — IoT-23 Capture-48-1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B1F3A"/>
                </a:solidFill>
                <a:latin typeface="Calibri"/>
              </a:rPr>
              <a:t>Botnet Mirai à grande échelle : 3,4M flux, 99,9% attaque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12700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554480"/>
            <a:ext cx="10241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500">
                <a:solidFill>
                  <a:srgbClr val="333D4D"/>
                </a:solidFill>
                <a:latin typeface="Calibri"/>
              </a:rPr>
              <a:t>•  3 394 338 flux Zeek — scan de ports massif (Mirai) + C&amp;C, jamais vu à l'entraînement.</a:t>
            </a:r>
          </a:p>
          <a:p>
            <a:pPr>
              <a:spcAft>
                <a:spcPts val="1300"/>
              </a:spcAft>
            </a:pPr>
            <a:r>
              <a:rPr sz="1500">
                <a:solidFill>
                  <a:srgbClr val="333D4D"/>
                </a:solidFill>
                <a:latin typeface="Calibri"/>
              </a:rPr>
              <a:t>•  Isolation Forest : Recall 100% sur 3,39M attaques réelles, AUC 77,8% (cohérent avec TEST 2 — même limite de transfert de seuil).</a:t>
            </a:r>
          </a:p>
          <a:p>
            <a:pPr>
              <a:spcAft>
                <a:spcPts val="1300"/>
              </a:spcAft>
            </a:pPr>
            <a:r>
              <a:rPr sz="1500">
                <a:solidFill>
                  <a:srgbClr val="333D4D"/>
                </a:solidFill>
                <a:latin typeface="Calibri"/>
              </a:rPr>
              <a:t>•  Random Forest : port_scanning identifié à 100% (3 387 007/3 387 007) ; suspicious_activity à 82% de rappel — bonne généralisation malgré l'échelle.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931920"/>
            <a:ext cx="3429000" cy="128016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069080"/>
            <a:ext cx="3429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2ECC71"/>
                </a:solidFill>
                <a:latin typeface="Calibri"/>
              </a:rP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3429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333D4D"/>
                </a:solidFill>
                <a:latin typeface="Calibri"/>
              </a:rPr>
              <a:t>Recall port_scanning (RF)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3931920"/>
            <a:ext cx="3429000" cy="128016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4069080"/>
            <a:ext cx="3429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3498DB"/>
                </a:solidFill>
                <a:latin typeface="Calibri"/>
              </a:rPr>
              <a:t>77,8%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4709160"/>
            <a:ext cx="3429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333D4D"/>
                </a:solidFill>
                <a:latin typeface="Calibri"/>
              </a:rPr>
              <a:t>AUC Isolation Forest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3931920"/>
            <a:ext cx="3429000" cy="128016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4069080"/>
            <a:ext cx="3429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39C12"/>
                </a:solidFill>
                <a:latin typeface="Calibri"/>
              </a:rPr>
              <a:t>3,4M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709160"/>
            <a:ext cx="3429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333D4D"/>
                </a:solidFill>
                <a:latin typeface="Calibri"/>
              </a:rPr>
              <a:t>flux testés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PFE IT6 — SOC Intelligent basé sur ELK + 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39C12"/>
                </a:solidFill>
                <a:latin typeface="Calibri"/>
              </a:rPr>
              <a:t>TEST 4 — CICIDS2018 + IoT-23, combinés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0B1F3A"/>
                </a:solidFill>
                <a:latin typeface="Calibri"/>
              </a:rPr>
              <a:t>Les 5 catégories, ~75% attaque / 25% normal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12700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554480"/>
            <a:ext cx="10241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50">
                <a:solidFill>
                  <a:srgbClr val="333D4D"/>
                </a:solidFill>
                <a:latin typeface="Calibri"/>
              </a:rPr>
              <a:t>•  40 000 flux combinés : CSE-CIC-IDS2018 (4 jours, jamais vu, colonnes renommées pour réutiliser l'adaptateur CICFlowMeter existant) + échantillon Zeek de TEST 3 — les 5 catégories à 6 000 chacune, 75,0%/25,0% exact.</a:t>
            </a:r>
          </a:p>
          <a:p>
            <a:pPr>
              <a:spcAft>
                <a:spcPts val="1200"/>
              </a:spcAft>
            </a:pPr>
            <a:r>
              <a:rPr sz="1450">
                <a:solidFill>
                  <a:srgbClr val="333D4D"/>
                </a:solidFill>
                <a:latin typeface="Calibri"/>
              </a:rPr>
              <a:t>•  Isolation Forest (cicflowmeter) : AUC 59,2% — nettement sous les 84,5% obtenus sur CICIDS2017 : CICIDS2018 est un jeu VRAIMENT différent (même outil, capture/année différente), pas juste un nouveau seuil à calibrer.</a:t>
            </a:r>
          </a:p>
          <a:p>
            <a:pPr>
              <a:spcAft>
                <a:spcPts val="1200"/>
              </a:spcAft>
            </a:pPr>
            <a:r>
              <a:rPr sz="1450">
                <a:solidFill>
                  <a:srgbClr val="333D4D"/>
                </a:solidFill>
                <a:latin typeface="Calibri"/>
              </a:rPr>
              <a:t>•  Random Forest : Accuracy 57,8% — intrusion_reseau et port_scanning bien reconnus (98-100% recall), mais suspicious_activity (Bot) totalement confondu (0% recall) avec intrusion_reseau/port_scanning.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297680"/>
            <a:ext cx="3429000" cy="109728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3429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2ECC71"/>
                </a:solidFill>
                <a:latin typeface="Calibri"/>
              </a:rPr>
              <a:t>75%/25%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74920"/>
            <a:ext cx="3429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333D4D"/>
                </a:solidFill>
                <a:latin typeface="Calibri"/>
              </a:rPr>
              <a:t>Ratio exact atteint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297680"/>
            <a:ext cx="3429000" cy="109728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4434840"/>
            <a:ext cx="3429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E74C3C"/>
                </a:solidFill>
                <a:latin typeface="Calibri"/>
              </a:rPr>
              <a:t>59,2%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5074920"/>
            <a:ext cx="3429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333D4D"/>
                </a:solidFill>
                <a:latin typeface="Calibri"/>
              </a:rPr>
              <a:t>AUC IF (CICIDS2018)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4297680"/>
            <a:ext cx="3429000" cy="109728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4434840"/>
            <a:ext cx="3429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39C12"/>
                </a:solidFill>
                <a:latin typeface="Calibri"/>
              </a:rPr>
              <a:t>57,8%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5074920"/>
            <a:ext cx="3429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333D4D"/>
                </a:solidFill>
                <a:latin typeface="Calibri"/>
              </a:rPr>
              <a:t>Accuracy RF (5 catégories)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PFE IT6 — SOC Intelligent basé sur ELK + 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39C12"/>
                </a:solidFill>
                <a:latin typeface="Calibri"/>
              </a:rPr>
              <a:t>VALIDATION TERRAIN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B1F3A"/>
                </a:solidFill>
                <a:latin typeface="Calibri"/>
              </a:rPr>
              <a:t>TEST 4 — Répartition du jeu combiné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12700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02_categories_attaq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525" y="1508760"/>
            <a:ext cx="7134644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870448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6B7682"/>
                </a:solidFill>
                <a:latin typeface="Calibri"/>
              </a:rPr>
              <a:t>Les 5 catégories représentées à parts égales (6 000 chacune), combinant 2 sources jamais vues.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PFE IT6 — SOC Intelligent basé sur ELK +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39C12"/>
                </a:solidFill>
                <a:latin typeface="Calibri"/>
              </a:rPr>
              <a:t>VALIDATION TERRAIN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B1F3A"/>
                </a:solidFill>
                <a:latin typeface="Calibri"/>
              </a:rPr>
              <a:t>TEST 4 — Matrice de confusion Random Forest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12700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rf_evaluation_test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9507" y="1508760"/>
            <a:ext cx="4772681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870448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6B7682"/>
                </a:solidFill>
                <a:latin typeface="Calibri"/>
              </a:rPr>
              <a:t>port_scanning et intrusion_reseau bien reconnus ; suspicious_activity (Bot CICIDS2018) non généralisé.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PFE IT6 — SOC Intelligent basé sur ELK +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39C12"/>
                </a:solidFill>
                <a:latin typeface="Calibri"/>
              </a:rPr>
              <a:t>VALIDATION TERRAIN — SYNTHÈSE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B1F3A"/>
                </a:solidFill>
                <a:latin typeface="Calibri"/>
              </a:rPr>
              <a:t>Synthèse des 3 tests hors-échantillon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12700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651760"/>
                <a:gridCol w="1371600"/>
                <a:gridCol w="1280160"/>
                <a:gridCol w="2194560"/>
                <a:gridCol w="2377440"/>
              </a:tblGrid>
              <a:tr h="1051560">
                <a:tc>
                  <a:txBody>
                    <a:bodyPr/>
                    <a:lstStyle/>
                    <a:p>
                      <a:pPr algn="l"/>
                      <a:r>
                        <a:rPr b="1" sz="1350">
                          <a:solidFill>
                            <a:srgbClr val="FFFFFF"/>
                          </a:solidFill>
                        </a:rPr>
                        <a:t>Test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50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50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50">
                          <a:solidFill>
                            <a:srgbClr val="FFFFFF"/>
                          </a:solidFill>
                        </a:rPr>
                        <a:t>% Attaque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50">
                          <a:solidFill>
                            <a:srgbClr val="FFFFFF"/>
                          </a:solidFill>
                        </a:rPr>
                        <a:t>Isolation Forest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50">
                          <a:solidFill>
                            <a:srgbClr val="FFFFFF"/>
                          </a:solidFill>
                        </a:rPr>
                        <a:t>Random Forest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33D4D"/>
                          </a:solidFill>
                        </a:rPr>
                        <a:t>TEST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IoT-23 Capture-20-1 (Zeek)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3 209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0,5%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AUC 78,0% / FPR ~50%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1 seule catégorie, échantillon trop petit pour RF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33D4D"/>
                          </a:solidFill>
                        </a:rPr>
                        <a:t>TEST 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IoT-23 Capture-48-1 (Zeek)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3 394 338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99,9%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AUC 77,8%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port_scanning: 100% recall RF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33D4D"/>
                          </a:solidFill>
                        </a:rPr>
                        <a:t>TEST 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CICIDS2018 + Zeek (multi-source)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40 000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75,0%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AUC 59,2% (cicflowmeter)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D4D"/>
                          </a:solidFill>
                        </a:rPr>
                        <a:t>5/5 catégories, Bot non généralisé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6B7682"/>
                </a:solidFill>
                <a:latin typeface="Calibri"/>
              </a:rPr>
              <a:t>Constat transversal : le problème de généralisation CROSS-FORMAT (résolu par v4) est différent du problème de généralisation CROSS-DATASET/APPAREIL (qui persiste, même intra-format) — deux limites distinctes.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PFE IT6 — SOC Intelligent basé sur ELK +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39C12"/>
                </a:solidFill>
                <a:latin typeface="Calibri"/>
              </a:rPr>
              <a:t>LIMITES &amp;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B1F3A"/>
                </a:solidFill>
                <a:latin typeface="Calibri"/>
              </a:rPr>
              <a:t>Ce qui reste à faire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12700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645920"/>
            <a:ext cx="10241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50">
                <a:solidFill>
                  <a:srgbClr val="333D4D"/>
                </a:solidFill>
                <a:latin typeface="Calibri"/>
              </a:rPr>
              <a:t>•  Généralisation cross-dataset (même format, capture différente) : confirmée comme une limite réelle et distincte (TEST 4, AUC 59,2% sur CICIDS2018 vs 84,5% sur CICIDS2017) — nécessiterait d'intégrer plusieurs captures par format à l'entraînement, pas seulement plusieurs formats.</a:t>
            </a:r>
          </a:p>
          <a:p>
            <a:pPr>
              <a:spcAft>
                <a:spcPts val="1400"/>
              </a:spcAft>
            </a:pPr>
            <a:r>
              <a:rPr sz="1550">
                <a:solidFill>
                  <a:srgbClr val="333D4D"/>
                </a:solidFill>
                <a:latin typeface="Calibri"/>
              </a:rPr>
              <a:t>•  Zeek reste dépendant du volume de trafic normal réel disponible (3 629 exemples, un seul capture) — ~20 scénarios IoT-23 supplémentaires existent, dont des captures "Honeypot" benignes dédiées.</a:t>
            </a:r>
          </a:p>
          <a:p>
            <a:pPr>
              <a:spcAft>
                <a:spcPts val="1400"/>
              </a:spcAft>
            </a:pPr>
            <a:r>
              <a:rPr sz="1550">
                <a:solidFill>
                  <a:srgbClr val="333D4D"/>
                </a:solidFill>
                <a:latin typeface="Calibri"/>
              </a:rPr>
              <a:t>•  Suricata : adaptateur prêt et testé, jamais validé sur données réelles faute de source disponible.</a:t>
            </a:r>
          </a:p>
          <a:p>
            <a:pPr>
              <a:spcAft>
                <a:spcPts val="1400"/>
              </a:spcAft>
            </a:pPr>
            <a:r>
              <a:rPr sz="1550">
                <a:solidFill>
                  <a:srgbClr val="333D4D"/>
                </a:solidFill>
                <a:latin typeface="Calibri"/>
              </a:rPr>
              <a:t>•  VPC Flow Logs : cas unidirectionnel documenté mais non implémenté (corrélation biflow nécessaire).</a:t>
            </a:r>
          </a:p>
          <a:p>
            <a:pPr>
              <a:spcAft>
                <a:spcPts val="1400"/>
              </a:spcAft>
            </a:pPr>
            <a:r>
              <a:rPr sz="1550">
                <a:solidFill>
                  <a:srgbClr val="333D4D"/>
                </a:solidFill>
                <a:latin typeface="Calibri"/>
              </a:rPr>
              <a:t>•  Catégorie "Bot"/suspicious_activity : non généralisée entre CICIDS2017/2018 et Zeek — mériterait des features comportementales dédiées (périodicité, beaconing) plutôt que purement statistiques.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PFE IT6 — SOC Intelligent basé sur ELK +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AA5B1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39C12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3327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D'un modèle qui s'effondrait hors de son format d'entraînement</a:t>
            </a:r>
          </a:p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à une architecture testée, honnête et extensible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C9D3DE"/>
                </a:solidFill>
                <a:latin typeface="Calibri"/>
              </a:rPr>
              <a:t>•  Isolation Forest : 3 modèles dédiés, +5 à +42 points d'AUC selon la source vs l'approche mono-modèle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C9D3DE"/>
                </a:solidFill>
                <a:latin typeface="Calibri"/>
              </a:rPr>
              <a:t>•  Random Forest : 1 modèle partagé, 99,7% F1 pondéré sur 3 sources combinées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C9D3DE"/>
                </a:solidFill>
                <a:latin typeface="Calibri"/>
              </a:rPr>
              <a:t>•  Validé sur 4 jeux de données réels jamais vus — résultats rapportés avec leurs limites, pas seulement leurs succès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A8F"/>
                </a:solidFill>
                <a:latin typeface="Calibri"/>
              </a:rPr>
              <a:t>PFE IT6 — SOC Intelligent basé sur ELK +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A8F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Merci de votre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49039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C9D3DE"/>
                </a:solidFill>
                <a:latin typeface="Calibri"/>
              </a:rPr>
              <a:t>Questions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A8F"/>
                </a:solidFill>
                <a:latin typeface="Calibri"/>
              </a:rPr>
              <a:t>PFE IT6 — SOC Intelligent basé sur ELK +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A8F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